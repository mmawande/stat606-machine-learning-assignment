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60" r:id="rId5"/>
    <p:sldId id="259"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6610" autoAdjust="0"/>
  </p:normalViewPr>
  <p:slideViewPr>
    <p:cSldViewPr snapToGrid="0">
      <p:cViewPr varScale="1">
        <p:scale>
          <a:sx n="65" d="100"/>
          <a:sy n="65" d="100"/>
        </p:scale>
        <p:origin x="135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4E02D4-7CEE-4426-B842-C52CC7EAF1AF}" type="datetimeFigureOut">
              <a:rPr lang="en-ZA" smtClean="0"/>
              <a:t>2026/05/15</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4A676-2660-4BB4-BF48-DD096EA23FE3}" type="slidenum">
              <a:rPr lang="en-ZA" smtClean="0"/>
              <a:t>‹#›</a:t>
            </a:fld>
            <a:endParaRPr lang="en-ZA"/>
          </a:p>
        </p:txBody>
      </p:sp>
    </p:spTree>
    <p:extLst>
      <p:ext uri="{BB962C8B-B14F-4D97-AF65-F5344CB8AC3E}">
        <p14:creationId xmlns:p14="http://schemas.microsoft.com/office/powerpoint/2010/main" val="2961855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Based on AUC evaluated on a held‑out test set, the </a:t>
            </a:r>
          </a:p>
          <a:p>
            <a:pPr marL="171450" indent="-171450" fontAlgn="t">
              <a:buFont typeface="Wingdings" panose="05000000000000000000" pitchFamily="2" charset="2"/>
              <a:buChar char="ü"/>
            </a:pPr>
            <a:r>
              <a:rPr lang="en-US" sz="1200" b="1" i="0" kern="1200" dirty="0">
                <a:solidFill>
                  <a:schemeClr val="tx1"/>
                </a:solidFill>
                <a:effectLst/>
                <a:latin typeface="+mn-lt"/>
                <a:ea typeface="+mn-ea"/>
                <a:cs typeface="+mn-cs"/>
              </a:rPr>
              <a:t>Decision Tree</a:t>
            </a:r>
            <a:r>
              <a:rPr lang="en-US" sz="1200" b="0" i="0" kern="1200" dirty="0">
                <a:solidFill>
                  <a:schemeClr val="tx1"/>
                </a:solidFill>
                <a:effectLst/>
                <a:latin typeface="+mn-lt"/>
                <a:ea typeface="+mn-ea"/>
                <a:cs typeface="+mn-cs"/>
              </a:rPr>
              <a:t> achieved the best predictive performance (AUC ≈ 0.7322), indicating the strongest overall discriminative ability. </a:t>
            </a:r>
          </a:p>
          <a:p>
            <a:pPr marL="171450" indent="-171450" fontAlgn="t">
              <a:buFont typeface="Wingdings" panose="05000000000000000000" pitchFamily="2" charset="2"/>
              <a:buChar char="ü"/>
            </a:pPr>
            <a:r>
              <a:rPr lang="en-US" sz="1200" b="1" i="0" kern="1200" dirty="0">
                <a:solidFill>
                  <a:schemeClr val="tx1"/>
                </a:solidFill>
                <a:effectLst/>
                <a:latin typeface="+mn-lt"/>
                <a:ea typeface="+mn-ea"/>
                <a:cs typeface="+mn-cs"/>
              </a:rPr>
              <a:t>Logistic Regression</a:t>
            </a:r>
            <a:r>
              <a:rPr lang="en-US" sz="1200" b="0" i="0" kern="1200" dirty="0">
                <a:solidFill>
                  <a:schemeClr val="tx1"/>
                </a:solidFill>
                <a:effectLst/>
                <a:latin typeface="+mn-lt"/>
                <a:ea typeface="+mn-ea"/>
                <a:cs typeface="+mn-cs"/>
              </a:rPr>
              <a:t> showed moderate performance, constrained by its linear modelling assumptions. In contrast, </a:t>
            </a:r>
          </a:p>
          <a:p>
            <a:pPr marL="171450" indent="-171450" fontAlgn="t">
              <a:buFont typeface="Wingdings" panose="05000000000000000000" pitchFamily="2" charset="2"/>
              <a:buChar char="ü"/>
            </a:pPr>
            <a:r>
              <a:rPr lang="en-US" sz="1200" b="1" i="0" kern="1200" dirty="0">
                <a:solidFill>
                  <a:schemeClr val="tx1"/>
                </a:solidFill>
                <a:effectLst/>
                <a:latin typeface="+mn-lt"/>
                <a:ea typeface="+mn-ea"/>
                <a:cs typeface="+mn-cs"/>
              </a:rPr>
              <a:t>Naïve Bayes </a:t>
            </a:r>
            <a:r>
              <a:rPr lang="en-US" sz="1200" b="0" i="0" kern="1200" dirty="0">
                <a:solidFill>
                  <a:schemeClr val="tx1"/>
                </a:solidFill>
                <a:effectLst/>
                <a:latin typeface="+mn-lt"/>
                <a:ea typeface="+mn-ea"/>
                <a:cs typeface="+mn-cs"/>
              </a:rPr>
              <a:t>exhibited weak </a:t>
            </a:r>
            <a:r>
              <a:rPr lang="en-US" sz="1200" b="0" i="0" kern="1200" dirty="0" err="1">
                <a:solidFill>
                  <a:schemeClr val="tx1"/>
                </a:solidFill>
                <a:effectLst/>
                <a:latin typeface="+mn-lt"/>
                <a:ea typeface="+mn-ea"/>
                <a:cs typeface="+mn-cs"/>
              </a:rPr>
              <a:t>generalisation</a:t>
            </a:r>
            <a:r>
              <a:rPr lang="en-US" sz="1200" b="0" i="0" kern="1200" dirty="0">
                <a:solidFill>
                  <a:schemeClr val="tx1"/>
                </a:solidFill>
                <a:effectLst/>
                <a:latin typeface="+mn-lt"/>
                <a:ea typeface="+mn-ea"/>
                <a:cs typeface="+mn-cs"/>
              </a:rPr>
              <a:t> after data cleaning and leakage removal, suggesting that its conditional independence assumption was not well suited to the final feature set.</a:t>
            </a:r>
          </a:p>
          <a:p>
            <a:pPr marL="171450" indent="-171450" fontAlgn="t">
              <a:buFont typeface="Wingdings" panose="05000000000000000000" pitchFamily="2" charset="2"/>
              <a:buChar char="ü"/>
            </a:pPr>
            <a:endParaRPr lang="en-US" sz="1200" b="0" i="0" kern="1200" dirty="0">
              <a:solidFill>
                <a:schemeClr val="tx1"/>
              </a:solidFill>
              <a:effectLst/>
              <a:latin typeface="+mn-lt"/>
              <a:ea typeface="+mn-ea"/>
              <a:cs typeface="+mn-cs"/>
            </a:endParaRPr>
          </a:p>
          <a:p>
            <a:pPr marL="0" indent="0" fontAlgn="t">
              <a:buFont typeface="Wingdings" panose="05000000000000000000" pitchFamily="2" charset="2"/>
              <a:buNone/>
            </a:pPr>
            <a:r>
              <a:rPr lang="en-US" sz="1200" b="0" i="0" kern="1200" dirty="0">
                <a:solidFill>
                  <a:schemeClr val="tx1"/>
                </a:solidFill>
                <a:effectLst/>
                <a:latin typeface="+mn-lt"/>
                <a:ea typeface="+mn-ea"/>
                <a:cs typeface="+mn-cs"/>
              </a:rPr>
              <a:t> Consequently, feature importance and key drivers of maintenance were interpreted primarily using the Decision Tree and supported by Logistic Regression. The results further demonstrate that feature engineering substantially improved predictive power, with downtime severity, time‑based patterns, and operational context emerging as the primary drivers of maintenance requirements.</a:t>
            </a:r>
          </a:p>
          <a:p>
            <a:pPr fontAlgn="t"/>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6A4A676-2660-4BB4-BF48-DD096EA23FE3}" type="slidenum">
              <a:rPr lang="en-ZA" smtClean="0"/>
              <a:t>6</a:t>
            </a:fld>
            <a:endParaRPr lang="en-ZA"/>
          </a:p>
        </p:txBody>
      </p:sp>
    </p:spTree>
    <p:extLst>
      <p:ext uri="{BB962C8B-B14F-4D97-AF65-F5344CB8AC3E}">
        <p14:creationId xmlns:p14="http://schemas.microsoft.com/office/powerpoint/2010/main" val="568294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A525B-7C89-0818-AFF1-E184F85A3D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92FAFA97-542C-5540-583F-A357E45588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FDD93099-2FDC-8337-46B2-9798EB39BB96}"/>
              </a:ext>
            </a:extLst>
          </p:cNvPr>
          <p:cNvSpPr>
            <a:spLocks noGrp="1"/>
          </p:cNvSpPr>
          <p:nvPr>
            <p:ph type="dt" sz="half" idx="10"/>
          </p:nvPr>
        </p:nvSpPr>
        <p:spPr/>
        <p:txBody>
          <a:bodyPr/>
          <a:lstStyle/>
          <a:p>
            <a:fld id="{D3997BC2-908B-4AE2-B66B-0BE82B2F56FB}" type="datetimeFigureOut">
              <a:rPr lang="en-ZA" smtClean="0"/>
              <a:t>2026/05/15</a:t>
            </a:fld>
            <a:endParaRPr lang="en-ZA"/>
          </a:p>
        </p:txBody>
      </p:sp>
      <p:sp>
        <p:nvSpPr>
          <p:cNvPr id="5" name="Footer Placeholder 4">
            <a:extLst>
              <a:ext uri="{FF2B5EF4-FFF2-40B4-BE49-F238E27FC236}">
                <a16:creationId xmlns:a16="http://schemas.microsoft.com/office/drawing/2014/main" id="{37344EEB-A394-AC7A-4C4F-9D81D689B5C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22DA6D1-146F-7C62-0C27-01A5A8CE763B}"/>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3685191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51C24-FE9A-AF0D-D00E-AF05DD8832D5}"/>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FF338984-ADDD-77D9-4862-6D2093C30F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75B571C-5208-9F89-2400-C2B0029D2AFC}"/>
              </a:ext>
            </a:extLst>
          </p:cNvPr>
          <p:cNvSpPr>
            <a:spLocks noGrp="1"/>
          </p:cNvSpPr>
          <p:nvPr>
            <p:ph type="dt" sz="half" idx="10"/>
          </p:nvPr>
        </p:nvSpPr>
        <p:spPr/>
        <p:txBody>
          <a:bodyPr/>
          <a:lstStyle/>
          <a:p>
            <a:fld id="{D3997BC2-908B-4AE2-B66B-0BE82B2F56FB}" type="datetimeFigureOut">
              <a:rPr lang="en-ZA" smtClean="0"/>
              <a:t>2026/05/15</a:t>
            </a:fld>
            <a:endParaRPr lang="en-ZA"/>
          </a:p>
        </p:txBody>
      </p:sp>
      <p:sp>
        <p:nvSpPr>
          <p:cNvPr id="5" name="Footer Placeholder 4">
            <a:extLst>
              <a:ext uri="{FF2B5EF4-FFF2-40B4-BE49-F238E27FC236}">
                <a16:creationId xmlns:a16="http://schemas.microsoft.com/office/drawing/2014/main" id="{7B06B03C-18AF-BCF7-E104-878387850E1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97892C7-A7C8-C835-3495-65D9A721C817}"/>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522942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977A2-EEDC-9396-EDF5-8C9C6F9BB2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8EB4CABE-C170-BFE5-06D9-8ACAE81D62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128E9F-94AB-405C-59E7-24D2E11EC7AC}"/>
              </a:ext>
            </a:extLst>
          </p:cNvPr>
          <p:cNvSpPr>
            <a:spLocks noGrp="1"/>
          </p:cNvSpPr>
          <p:nvPr>
            <p:ph type="dt" sz="half" idx="10"/>
          </p:nvPr>
        </p:nvSpPr>
        <p:spPr/>
        <p:txBody>
          <a:bodyPr/>
          <a:lstStyle/>
          <a:p>
            <a:fld id="{D3997BC2-908B-4AE2-B66B-0BE82B2F56FB}" type="datetimeFigureOut">
              <a:rPr lang="en-ZA" smtClean="0"/>
              <a:t>2026/05/15</a:t>
            </a:fld>
            <a:endParaRPr lang="en-ZA"/>
          </a:p>
        </p:txBody>
      </p:sp>
      <p:sp>
        <p:nvSpPr>
          <p:cNvPr id="5" name="Footer Placeholder 4">
            <a:extLst>
              <a:ext uri="{FF2B5EF4-FFF2-40B4-BE49-F238E27FC236}">
                <a16:creationId xmlns:a16="http://schemas.microsoft.com/office/drawing/2014/main" id="{E50D097F-79C5-1909-B2E2-777ABCC24D8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58A3CB1-0DE5-BC1C-5766-A9AE5D2B0880}"/>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2482488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4886D-4DCA-9E15-0FBB-E98DD9EE547B}"/>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62E277A2-6257-646C-4C99-5AFFEF6B4D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606FDC54-5F33-1D28-E44B-748DED4EB6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381293C8-C19E-2A47-6E08-F3DA087ADBDF}"/>
              </a:ext>
            </a:extLst>
          </p:cNvPr>
          <p:cNvSpPr>
            <a:spLocks noGrp="1"/>
          </p:cNvSpPr>
          <p:nvPr>
            <p:ph type="dt" sz="half" idx="10"/>
          </p:nvPr>
        </p:nvSpPr>
        <p:spPr/>
        <p:txBody>
          <a:bodyPr/>
          <a:lstStyle/>
          <a:p>
            <a:fld id="{D3997BC2-908B-4AE2-B66B-0BE82B2F56FB}" type="datetimeFigureOut">
              <a:rPr lang="en-ZA" smtClean="0"/>
              <a:t>2026/05/15</a:t>
            </a:fld>
            <a:endParaRPr lang="en-ZA"/>
          </a:p>
        </p:txBody>
      </p:sp>
      <p:sp>
        <p:nvSpPr>
          <p:cNvPr id="6" name="Footer Placeholder 5">
            <a:extLst>
              <a:ext uri="{FF2B5EF4-FFF2-40B4-BE49-F238E27FC236}">
                <a16:creationId xmlns:a16="http://schemas.microsoft.com/office/drawing/2014/main" id="{B3144E10-9319-881B-8316-B2158B39933E}"/>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9A070C26-1625-BD6B-A05C-22848314568A}"/>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2181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D8D1A-FAEB-E581-1AEC-5DFADEFFBEC4}"/>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D3EDF994-0AAA-9EC1-1D52-68FC99E56A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38D17B-A38D-6336-8041-9051675654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CAD75745-443A-6D4D-2FE4-61F5ED1928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D16C13-DAEA-108A-D2B1-67307F2B63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D3BC0D69-2666-4DDC-DF9C-E184EF8E5D21}"/>
              </a:ext>
            </a:extLst>
          </p:cNvPr>
          <p:cNvSpPr>
            <a:spLocks noGrp="1"/>
          </p:cNvSpPr>
          <p:nvPr>
            <p:ph type="dt" sz="half" idx="10"/>
          </p:nvPr>
        </p:nvSpPr>
        <p:spPr/>
        <p:txBody>
          <a:bodyPr/>
          <a:lstStyle/>
          <a:p>
            <a:fld id="{D3997BC2-908B-4AE2-B66B-0BE82B2F56FB}" type="datetimeFigureOut">
              <a:rPr lang="en-ZA" smtClean="0"/>
              <a:t>2026/05/15</a:t>
            </a:fld>
            <a:endParaRPr lang="en-ZA"/>
          </a:p>
        </p:txBody>
      </p:sp>
      <p:sp>
        <p:nvSpPr>
          <p:cNvPr id="8" name="Footer Placeholder 7">
            <a:extLst>
              <a:ext uri="{FF2B5EF4-FFF2-40B4-BE49-F238E27FC236}">
                <a16:creationId xmlns:a16="http://schemas.microsoft.com/office/drawing/2014/main" id="{A690385C-4CB8-D8E0-58F4-068D1BB859A2}"/>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C43D98B2-F141-7D75-19AD-4FD4394EBF2C}"/>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3938348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AB291-12BF-9615-65A5-A94006FDCE42}"/>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3C9B4F9B-FC29-593B-4818-1C55D924F2E8}"/>
              </a:ext>
            </a:extLst>
          </p:cNvPr>
          <p:cNvSpPr>
            <a:spLocks noGrp="1"/>
          </p:cNvSpPr>
          <p:nvPr>
            <p:ph type="dt" sz="half" idx="10"/>
          </p:nvPr>
        </p:nvSpPr>
        <p:spPr/>
        <p:txBody>
          <a:bodyPr/>
          <a:lstStyle/>
          <a:p>
            <a:fld id="{D3997BC2-908B-4AE2-B66B-0BE82B2F56FB}" type="datetimeFigureOut">
              <a:rPr lang="en-ZA" smtClean="0"/>
              <a:t>2026/05/15</a:t>
            </a:fld>
            <a:endParaRPr lang="en-ZA"/>
          </a:p>
        </p:txBody>
      </p:sp>
      <p:sp>
        <p:nvSpPr>
          <p:cNvPr id="4" name="Footer Placeholder 3">
            <a:extLst>
              <a:ext uri="{FF2B5EF4-FFF2-40B4-BE49-F238E27FC236}">
                <a16:creationId xmlns:a16="http://schemas.microsoft.com/office/drawing/2014/main" id="{84C4C946-4C9E-23D6-82E8-84D14A582EA0}"/>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B6F51066-0E09-E6A4-4DDB-4A8E8AB0D2EF}"/>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609904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40004B-EB7D-474F-0123-D1B78E477905}"/>
              </a:ext>
            </a:extLst>
          </p:cNvPr>
          <p:cNvSpPr>
            <a:spLocks noGrp="1"/>
          </p:cNvSpPr>
          <p:nvPr>
            <p:ph type="dt" sz="half" idx="10"/>
          </p:nvPr>
        </p:nvSpPr>
        <p:spPr/>
        <p:txBody>
          <a:bodyPr/>
          <a:lstStyle/>
          <a:p>
            <a:fld id="{D3997BC2-908B-4AE2-B66B-0BE82B2F56FB}" type="datetimeFigureOut">
              <a:rPr lang="en-ZA" smtClean="0"/>
              <a:t>2026/05/15</a:t>
            </a:fld>
            <a:endParaRPr lang="en-ZA"/>
          </a:p>
        </p:txBody>
      </p:sp>
      <p:sp>
        <p:nvSpPr>
          <p:cNvPr id="3" name="Footer Placeholder 2">
            <a:extLst>
              <a:ext uri="{FF2B5EF4-FFF2-40B4-BE49-F238E27FC236}">
                <a16:creationId xmlns:a16="http://schemas.microsoft.com/office/drawing/2014/main" id="{A8B4FE66-6FA6-0125-9554-8CCCEB11A008}"/>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D8E25DFC-B48F-274D-62EF-C7C7E77A65FC}"/>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2750754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918C2-C4F7-E472-07E2-1E089EE1D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76A84C90-838C-DF94-A2E9-8D7878CAC2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2E8FEBE6-185C-0728-3D72-7B2AF39B13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FA6908-7B4E-E75F-50B6-90B5FB9D1BA5}"/>
              </a:ext>
            </a:extLst>
          </p:cNvPr>
          <p:cNvSpPr>
            <a:spLocks noGrp="1"/>
          </p:cNvSpPr>
          <p:nvPr>
            <p:ph type="dt" sz="half" idx="10"/>
          </p:nvPr>
        </p:nvSpPr>
        <p:spPr/>
        <p:txBody>
          <a:bodyPr/>
          <a:lstStyle/>
          <a:p>
            <a:fld id="{D3997BC2-908B-4AE2-B66B-0BE82B2F56FB}" type="datetimeFigureOut">
              <a:rPr lang="en-ZA" smtClean="0"/>
              <a:t>2026/05/15</a:t>
            </a:fld>
            <a:endParaRPr lang="en-ZA"/>
          </a:p>
        </p:txBody>
      </p:sp>
      <p:sp>
        <p:nvSpPr>
          <p:cNvPr id="6" name="Footer Placeholder 5">
            <a:extLst>
              <a:ext uri="{FF2B5EF4-FFF2-40B4-BE49-F238E27FC236}">
                <a16:creationId xmlns:a16="http://schemas.microsoft.com/office/drawing/2014/main" id="{A5098077-6C99-3561-ED3C-1A23D8469EA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D92B655-BCAF-2B8A-CD4D-8727DC2B2818}"/>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328822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2559A-1193-6725-7B6F-8AB4F18530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32DFF954-D366-4B9D-0AA0-0BA4BB47D3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B187CD4F-89F5-7B47-FCD3-01C68184C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754BE2-BA2C-E574-4CB9-051EFFE9F82D}"/>
              </a:ext>
            </a:extLst>
          </p:cNvPr>
          <p:cNvSpPr>
            <a:spLocks noGrp="1"/>
          </p:cNvSpPr>
          <p:nvPr>
            <p:ph type="dt" sz="half" idx="10"/>
          </p:nvPr>
        </p:nvSpPr>
        <p:spPr/>
        <p:txBody>
          <a:bodyPr/>
          <a:lstStyle/>
          <a:p>
            <a:fld id="{D3997BC2-908B-4AE2-B66B-0BE82B2F56FB}" type="datetimeFigureOut">
              <a:rPr lang="en-ZA" smtClean="0"/>
              <a:t>2026/05/15</a:t>
            </a:fld>
            <a:endParaRPr lang="en-ZA"/>
          </a:p>
        </p:txBody>
      </p:sp>
      <p:sp>
        <p:nvSpPr>
          <p:cNvPr id="6" name="Footer Placeholder 5">
            <a:extLst>
              <a:ext uri="{FF2B5EF4-FFF2-40B4-BE49-F238E27FC236}">
                <a16:creationId xmlns:a16="http://schemas.microsoft.com/office/drawing/2014/main" id="{CE82B7A3-F6F1-D21A-5365-2B1FD2AD479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7DFBE9D5-562A-CB0A-5E17-984A58634378}"/>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1116109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FEE06-3899-C086-35D6-7C7D832CAC99}"/>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DFBC438-4595-117D-45ED-51E59A8159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923B438-8537-7529-0790-63B98C9A5C70}"/>
              </a:ext>
            </a:extLst>
          </p:cNvPr>
          <p:cNvSpPr>
            <a:spLocks noGrp="1"/>
          </p:cNvSpPr>
          <p:nvPr>
            <p:ph type="dt" sz="half" idx="10"/>
          </p:nvPr>
        </p:nvSpPr>
        <p:spPr/>
        <p:txBody>
          <a:bodyPr/>
          <a:lstStyle/>
          <a:p>
            <a:fld id="{D3997BC2-908B-4AE2-B66B-0BE82B2F56FB}" type="datetimeFigureOut">
              <a:rPr lang="en-ZA" smtClean="0"/>
              <a:t>2026/05/15</a:t>
            </a:fld>
            <a:endParaRPr lang="en-ZA"/>
          </a:p>
        </p:txBody>
      </p:sp>
      <p:sp>
        <p:nvSpPr>
          <p:cNvPr id="5" name="Footer Placeholder 4">
            <a:extLst>
              <a:ext uri="{FF2B5EF4-FFF2-40B4-BE49-F238E27FC236}">
                <a16:creationId xmlns:a16="http://schemas.microsoft.com/office/drawing/2014/main" id="{87CB9BC3-400E-7797-D7C2-F5A3551B857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EB53ECA-3C45-1959-9733-3D5A7E3D76DC}"/>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2701872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C7167A-5843-4CDA-A095-6B6172A11E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6900FD8E-3662-A984-E61B-AFFF10A17F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95A59E7-4E37-D3D4-CE9E-A854CDDCED65}"/>
              </a:ext>
            </a:extLst>
          </p:cNvPr>
          <p:cNvSpPr>
            <a:spLocks noGrp="1"/>
          </p:cNvSpPr>
          <p:nvPr>
            <p:ph type="dt" sz="half" idx="10"/>
          </p:nvPr>
        </p:nvSpPr>
        <p:spPr/>
        <p:txBody>
          <a:bodyPr/>
          <a:lstStyle/>
          <a:p>
            <a:fld id="{D3997BC2-908B-4AE2-B66B-0BE82B2F56FB}" type="datetimeFigureOut">
              <a:rPr lang="en-ZA" smtClean="0"/>
              <a:t>2026/05/15</a:t>
            </a:fld>
            <a:endParaRPr lang="en-ZA"/>
          </a:p>
        </p:txBody>
      </p:sp>
      <p:sp>
        <p:nvSpPr>
          <p:cNvPr id="5" name="Footer Placeholder 4">
            <a:extLst>
              <a:ext uri="{FF2B5EF4-FFF2-40B4-BE49-F238E27FC236}">
                <a16:creationId xmlns:a16="http://schemas.microsoft.com/office/drawing/2014/main" id="{7133A528-9CB2-2C4C-AEB0-612A80A730D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237EEB3-A479-90A1-2C3C-272C6E20E1EE}"/>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1658297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8D1900-CA9B-F026-E1AE-ED5A27C641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7DED024A-CD96-5611-2ABD-6674A497FA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A3EC3FDE-5A9B-C91C-9380-AAA4BC3E46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997BC2-908B-4AE2-B66B-0BE82B2F56FB}" type="datetimeFigureOut">
              <a:rPr lang="en-ZA" smtClean="0"/>
              <a:t>2026/05/15</a:t>
            </a:fld>
            <a:endParaRPr lang="en-ZA"/>
          </a:p>
        </p:txBody>
      </p:sp>
      <p:sp>
        <p:nvSpPr>
          <p:cNvPr id="5" name="Footer Placeholder 4">
            <a:extLst>
              <a:ext uri="{FF2B5EF4-FFF2-40B4-BE49-F238E27FC236}">
                <a16:creationId xmlns:a16="http://schemas.microsoft.com/office/drawing/2014/main" id="{B13D5B6D-ED0F-11DF-950B-0EEC27C924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B3F456FE-0192-C8FF-4E6D-0DEF39714F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CC2D65-3171-4FC7-802C-6FA9CF2E3E22}" type="slidenum">
              <a:rPr lang="en-ZA" smtClean="0"/>
              <a:t>‹#›</a:t>
            </a:fld>
            <a:endParaRPr lang="en-ZA"/>
          </a:p>
        </p:txBody>
      </p:sp>
    </p:spTree>
    <p:extLst>
      <p:ext uri="{BB962C8B-B14F-4D97-AF65-F5344CB8AC3E}">
        <p14:creationId xmlns:p14="http://schemas.microsoft.com/office/powerpoint/2010/main" val="3299107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70D246-911C-D7B3-6009-055DAF83A196}"/>
              </a:ext>
            </a:extLst>
          </p:cNvPr>
          <p:cNvPicPr>
            <a:picLocks noChangeAspect="1"/>
          </p:cNvPicPr>
          <p:nvPr/>
        </p:nvPicPr>
        <p:blipFill>
          <a:blip r:embed="rId2"/>
          <a:stretch>
            <a:fillRect/>
          </a:stretch>
        </p:blipFill>
        <p:spPr>
          <a:xfrm>
            <a:off x="0" y="4921911"/>
            <a:ext cx="12192000" cy="2013632"/>
          </a:xfrm>
          <a:prstGeom prst="rect">
            <a:avLst/>
          </a:prstGeom>
        </p:spPr>
      </p:pic>
      <p:pic>
        <p:nvPicPr>
          <p:cNvPr id="6" name="Picture 5">
            <a:extLst>
              <a:ext uri="{FF2B5EF4-FFF2-40B4-BE49-F238E27FC236}">
                <a16:creationId xmlns:a16="http://schemas.microsoft.com/office/drawing/2014/main" id="{492B0773-86CD-D19C-AD6C-48CDE5F56A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8" name="Content Placeholder 2">
            <a:extLst>
              <a:ext uri="{FF2B5EF4-FFF2-40B4-BE49-F238E27FC236}">
                <a16:creationId xmlns:a16="http://schemas.microsoft.com/office/drawing/2014/main" id="{D5ECAFAF-4F91-67A8-9086-1AC0C30FB6F7}"/>
              </a:ext>
            </a:extLst>
          </p:cNvPr>
          <p:cNvSpPr txBox="1">
            <a:spLocks/>
          </p:cNvSpPr>
          <p:nvPr/>
        </p:nvSpPr>
        <p:spPr>
          <a:xfrm>
            <a:off x="3126659" y="3686334"/>
            <a:ext cx="5170253" cy="83680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2900"/>
              </a:lnSpc>
              <a:spcBef>
                <a:spcPts val="0"/>
              </a:spcBef>
              <a:spcAft>
                <a:spcPts val="600"/>
              </a:spcAft>
              <a:buFont typeface="Arial" panose="020B0604020202020204" pitchFamily="34" charset="0"/>
              <a:buNone/>
            </a:pPr>
            <a:r>
              <a:rPr lang="en-ZA" sz="2000" dirty="0">
                <a:solidFill>
                  <a:schemeClr val="bg2">
                    <a:lumMod val="25000"/>
                  </a:schemeClr>
                </a:solidFill>
                <a:latin typeface="Calibri (Body)"/>
              </a:rPr>
              <a:t>By Y</a:t>
            </a:r>
            <a:r>
              <a:rPr lang="en-US" sz="2000" dirty="0" err="1">
                <a:solidFill>
                  <a:schemeClr val="bg2">
                    <a:lumMod val="25000"/>
                  </a:schemeClr>
                </a:solidFill>
                <a:latin typeface="Calibri (Body)"/>
              </a:rPr>
              <a:t>anga</a:t>
            </a:r>
            <a:r>
              <a:rPr lang="en-US" sz="2000" dirty="0">
                <a:solidFill>
                  <a:schemeClr val="bg2">
                    <a:lumMod val="25000"/>
                  </a:schemeClr>
                </a:solidFill>
                <a:latin typeface="Calibri (Body)"/>
              </a:rPr>
              <a:t> Ndamase (226029024) &amp; Mawanda Mbaza (226024595</a:t>
            </a:r>
          </a:p>
        </p:txBody>
      </p:sp>
      <p:sp>
        <p:nvSpPr>
          <p:cNvPr id="2" name="Title 1">
            <a:extLst>
              <a:ext uri="{FF2B5EF4-FFF2-40B4-BE49-F238E27FC236}">
                <a16:creationId xmlns:a16="http://schemas.microsoft.com/office/drawing/2014/main" id="{55E40223-E29F-E9DF-DB75-96BBABB8729D}"/>
              </a:ext>
            </a:extLst>
          </p:cNvPr>
          <p:cNvSpPr txBox="1">
            <a:spLocks/>
          </p:cNvSpPr>
          <p:nvPr/>
        </p:nvSpPr>
        <p:spPr>
          <a:xfrm>
            <a:off x="363794" y="183180"/>
            <a:ext cx="9293941" cy="14700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C80000"/>
                </a:solidFill>
                <a:latin typeface="Aptos (Body)"/>
              </a:rPr>
              <a:t>Machine Learning for Downtime                  			Prediction</a:t>
            </a:r>
          </a:p>
        </p:txBody>
      </p:sp>
      <p:sp>
        <p:nvSpPr>
          <p:cNvPr id="4" name="TextBox 3">
            <a:extLst>
              <a:ext uri="{FF2B5EF4-FFF2-40B4-BE49-F238E27FC236}">
                <a16:creationId xmlns:a16="http://schemas.microsoft.com/office/drawing/2014/main" id="{C0387C65-0A84-4594-D0D7-F1DE8BFCFA6D}"/>
              </a:ext>
            </a:extLst>
          </p:cNvPr>
          <p:cNvSpPr txBox="1"/>
          <p:nvPr/>
        </p:nvSpPr>
        <p:spPr>
          <a:xfrm>
            <a:off x="3224980" y="1717898"/>
            <a:ext cx="6096000" cy="1569660"/>
          </a:xfrm>
          <a:prstGeom prst="rect">
            <a:avLst/>
          </a:prstGeom>
          <a:noFill/>
        </p:spPr>
        <p:txBody>
          <a:bodyPr wrap="square">
            <a:spAutoFit/>
          </a:bodyPr>
          <a:lstStyle/>
          <a:p>
            <a:r>
              <a:rPr lang="en-US" sz="3200" dirty="0">
                <a:latin typeface="Calibri (Body)"/>
              </a:rPr>
              <a:t>STAT606 Practical Assignment</a:t>
            </a:r>
          </a:p>
          <a:p>
            <a:r>
              <a:rPr lang="en-US" sz="3200" dirty="0">
                <a:latin typeface="Calibri (Body)"/>
              </a:rPr>
              <a:t>Binary Classification: Maintenance Requirement Prediction</a:t>
            </a:r>
          </a:p>
        </p:txBody>
      </p:sp>
    </p:spTree>
    <p:extLst>
      <p:ext uri="{BB962C8B-B14F-4D97-AF65-F5344CB8AC3E}">
        <p14:creationId xmlns:p14="http://schemas.microsoft.com/office/powerpoint/2010/main" val="1094209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FEB827-882A-2F2B-855D-D4A61117AB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7B8AE4EB-89E8-C0C6-CCBB-B4F0C01CE8F0}"/>
              </a:ext>
            </a:extLst>
          </p:cNvPr>
          <p:cNvSpPr txBox="1">
            <a:spLocks/>
          </p:cNvSpPr>
          <p:nvPr/>
        </p:nvSpPr>
        <p:spPr>
          <a:xfrm>
            <a:off x="403505" y="415048"/>
            <a:ext cx="7422972" cy="4446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US" b="1" dirty="0">
                <a:solidFill>
                  <a:srgbClr val="C00000"/>
                </a:solidFill>
              </a:rPr>
              <a:t>Brief introduction to the data and problem</a:t>
            </a:r>
          </a:p>
        </p:txBody>
      </p:sp>
      <p:sp>
        <p:nvSpPr>
          <p:cNvPr id="4" name="Content Placeholder 2">
            <a:extLst>
              <a:ext uri="{FF2B5EF4-FFF2-40B4-BE49-F238E27FC236}">
                <a16:creationId xmlns:a16="http://schemas.microsoft.com/office/drawing/2014/main" id="{F68E7FFD-0321-1697-E0F5-A739089E6EDB}"/>
              </a:ext>
            </a:extLst>
          </p:cNvPr>
          <p:cNvSpPr txBox="1">
            <a:spLocks/>
          </p:cNvSpPr>
          <p:nvPr/>
        </p:nvSpPr>
        <p:spPr>
          <a:xfrm>
            <a:off x="212651" y="1061439"/>
            <a:ext cx="5465106" cy="56220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1400" b="1" dirty="0"/>
              <a:t>Dataset</a:t>
            </a:r>
          </a:p>
          <a:p>
            <a:pPr>
              <a:buNone/>
            </a:pPr>
            <a:r>
              <a:rPr lang="en-US" sz="1400" dirty="0"/>
              <a:t>We are using the </a:t>
            </a:r>
            <a:r>
              <a:rPr lang="en-US" sz="1400" dirty="0" err="1">
                <a:latin typeface="Courier New" panose="02070309020205020404" pitchFamily="49" charset="0"/>
              </a:rPr>
              <a:t>iportal_downtimes</a:t>
            </a:r>
            <a:r>
              <a:rPr lang="en-US" sz="1400" dirty="0"/>
              <a:t> dataset from manufacturing operations. </a:t>
            </a:r>
          </a:p>
          <a:p>
            <a:pPr>
              <a:buNone/>
            </a:pPr>
            <a:r>
              <a:rPr lang="en-US" sz="1400" dirty="0"/>
              <a:t>The dataset contains machine downtime events (features) from PLC in </a:t>
            </a:r>
            <a:r>
              <a:rPr lang="en-US" sz="1400" dirty="0" err="1"/>
              <a:t>roborts</a:t>
            </a:r>
            <a:r>
              <a:rPr lang="en-US" sz="1400" dirty="0"/>
              <a:t> such as:</a:t>
            </a:r>
          </a:p>
          <a:p>
            <a:pPr>
              <a:buFont typeface="Arial" panose="020B0604020202020204" pitchFamily="34" charset="0"/>
              <a:buChar char="•"/>
            </a:pPr>
            <a:r>
              <a:rPr lang="en-US" sz="1400" dirty="0"/>
              <a:t>downtime duration </a:t>
            </a:r>
          </a:p>
          <a:p>
            <a:pPr>
              <a:buFont typeface="Arial" panose="020B0604020202020204" pitchFamily="34" charset="0"/>
              <a:buChar char="•"/>
            </a:pPr>
            <a:r>
              <a:rPr lang="en-US" sz="1400" dirty="0"/>
              <a:t>fault duration </a:t>
            </a:r>
          </a:p>
          <a:p>
            <a:pPr>
              <a:buFont typeface="Arial" panose="020B0604020202020204" pitchFamily="34" charset="0"/>
              <a:buChar char="•"/>
            </a:pPr>
            <a:r>
              <a:rPr lang="en-US" sz="1400" dirty="0"/>
              <a:t>plant </a:t>
            </a:r>
          </a:p>
          <a:p>
            <a:pPr>
              <a:buFont typeface="Arial" panose="020B0604020202020204" pitchFamily="34" charset="0"/>
              <a:buChar char="•"/>
            </a:pPr>
            <a:r>
              <a:rPr lang="en-US" sz="1400" dirty="0"/>
              <a:t>department </a:t>
            </a:r>
          </a:p>
          <a:p>
            <a:pPr>
              <a:buFont typeface="Arial" panose="020B0604020202020204" pitchFamily="34" charset="0"/>
              <a:buChar char="•"/>
            </a:pPr>
            <a:r>
              <a:rPr lang="en-US" sz="1400" dirty="0"/>
              <a:t>area </a:t>
            </a:r>
          </a:p>
          <a:p>
            <a:pPr>
              <a:buFont typeface="Arial" panose="020B0604020202020204" pitchFamily="34" charset="0"/>
              <a:buChar char="•"/>
            </a:pPr>
            <a:r>
              <a:rPr lang="en-US" sz="1400" dirty="0"/>
              <a:t>downtime type </a:t>
            </a:r>
          </a:p>
          <a:p>
            <a:pPr>
              <a:buFont typeface="Arial" panose="020B0604020202020204" pitchFamily="34" charset="0"/>
              <a:buChar char="•"/>
            </a:pPr>
            <a:r>
              <a:rPr lang="en-US" sz="1400" dirty="0"/>
              <a:t>failure reason </a:t>
            </a:r>
          </a:p>
          <a:p>
            <a:pPr>
              <a:buFont typeface="Arial" panose="020B0604020202020204" pitchFamily="34" charset="0"/>
              <a:buChar char="•"/>
            </a:pPr>
            <a:r>
              <a:rPr lang="en-US" sz="1400" dirty="0"/>
              <a:t>machine messages </a:t>
            </a:r>
          </a:p>
          <a:p>
            <a:pPr>
              <a:buFont typeface="Arial" panose="020B0604020202020204" pitchFamily="34" charset="0"/>
              <a:buChar char="•"/>
            </a:pPr>
            <a:r>
              <a:rPr lang="en-US" sz="1400" dirty="0"/>
              <a:t>timestamps </a:t>
            </a:r>
          </a:p>
          <a:p>
            <a:pPr>
              <a:buNone/>
            </a:pPr>
            <a:r>
              <a:rPr lang="en-US" sz="1400" dirty="0"/>
              <a:t>Each row represents a machine downtime incident.</a:t>
            </a:r>
          </a:p>
          <a:p>
            <a:pPr marL="0" indent="0">
              <a:buNone/>
            </a:pPr>
            <a:r>
              <a:rPr lang="en-US" sz="1400" b="1" dirty="0"/>
              <a:t>This will help:</a:t>
            </a:r>
          </a:p>
          <a:p>
            <a:r>
              <a:rPr lang="en-US" sz="1400" dirty="0"/>
              <a:t>reduce production downtime </a:t>
            </a:r>
          </a:p>
          <a:p>
            <a:r>
              <a:rPr lang="en-US" sz="1400" dirty="0"/>
              <a:t>prioritize maintenance teams </a:t>
            </a:r>
          </a:p>
          <a:p>
            <a:r>
              <a:rPr lang="en-US" sz="1400" dirty="0"/>
              <a:t>improve operational efficiency</a:t>
            </a:r>
          </a:p>
          <a:p>
            <a:pPr>
              <a:buNone/>
            </a:pPr>
            <a:endParaRPr lang="en-US" sz="1400" dirty="0"/>
          </a:p>
        </p:txBody>
      </p:sp>
      <p:sp>
        <p:nvSpPr>
          <p:cNvPr id="5" name="Rectangle 4">
            <a:extLst>
              <a:ext uri="{FF2B5EF4-FFF2-40B4-BE49-F238E27FC236}">
                <a16:creationId xmlns:a16="http://schemas.microsoft.com/office/drawing/2014/main" id="{9F897354-327B-3352-44EB-BE71D0445AF3}"/>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313E946B-1FB2-8CAB-70C0-2A5EA2FE573B}"/>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0ACE9FE-E32D-0257-2BFC-0EE3D641F290}"/>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sp>
        <p:nvSpPr>
          <p:cNvPr id="12" name="Rectangle 2">
            <a:extLst>
              <a:ext uri="{FF2B5EF4-FFF2-40B4-BE49-F238E27FC236}">
                <a16:creationId xmlns:a16="http://schemas.microsoft.com/office/drawing/2014/main" id="{054EA4D8-B0C1-089A-45C2-B6C8651D53D4}"/>
              </a:ext>
            </a:extLst>
          </p:cNvPr>
          <p:cNvSpPr>
            <a:spLocks noChangeArrowheads="1"/>
          </p:cNvSpPr>
          <p:nvPr/>
        </p:nvSpPr>
        <p:spPr bwMode="auto">
          <a:xfrm>
            <a:off x="5826436" y="999039"/>
            <a:ext cx="5789570" cy="2846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ptos (Body)"/>
              </a:rPr>
              <a:t>Business Problem</a:t>
            </a:r>
            <a:br>
              <a:rPr kumimoji="0" lang="en-US" altLang="en-US" sz="1400" b="1" i="0" u="none" strike="noStrike" cap="none" normalizeH="0" baseline="0" dirty="0">
                <a:ln>
                  <a:noFill/>
                </a:ln>
                <a:solidFill>
                  <a:schemeClr val="tx1"/>
                </a:solidFill>
                <a:effectLst/>
                <a:latin typeface="Aptos (Body)"/>
              </a:rPr>
            </a:br>
            <a:endParaRPr kumimoji="0" lang="en-US" altLang="en-US" sz="1400" b="1" i="0" u="none" strike="noStrike" cap="none" normalizeH="0" baseline="0" dirty="0">
              <a:ln>
                <a:noFill/>
              </a:ln>
              <a:solidFill>
                <a:schemeClr val="tx1"/>
              </a:solidFill>
              <a:effectLst/>
              <a:latin typeface="Aptos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Body)"/>
              </a:rPr>
              <a:t>The objective is to </a:t>
            </a:r>
            <a:r>
              <a:rPr lang="en-US" altLang="en-US" sz="1400" dirty="0">
                <a:latin typeface="Aptos (Body)"/>
              </a:rPr>
              <a:t>p</a:t>
            </a:r>
            <a:r>
              <a:rPr kumimoji="0" lang="en-US" altLang="en-US" sz="1400" b="0" i="0" u="none" strike="noStrike" cap="none" normalizeH="0" baseline="0" dirty="0">
                <a:ln>
                  <a:noFill/>
                </a:ln>
                <a:solidFill>
                  <a:schemeClr val="tx1"/>
                </a:solidFill>
                <a:effectLst/>
                <a:latin typeface="Aptos (Body)"/>
              </a:rPr>
              <a:t>redict whether machine downtime/failures require maintenance using EMEA plants historical downtime logs.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latin typeface="Aptos (Body)"/>
            </a:endParaRPr>
          </a:p>
          <a:p>
            <a:pPr lvl="0" eaLnBrk="0" fontAlgn="base" hangingPunct="0">
              <a:spcBef>
                <a:spcPct val="0"/>
              </a:spcBef>
              <a:spcAft>
                <a:spcPct val="0"/>
              </a:spcAft>
            </a:pPr>
            <a:r>
              <a:rPr kumimoji="0" lang="en-US" altLang="en-US" sz="1400" b="1" i="0" u="none" strike="noStrike" cap="none" normalizeH="0" baseline="0" dirty="0">
                <a:ln>
                  <a:noFill/>
                </a:ln>
                <a:solidFill>
                  <a:schemeClr val="tx1"/>
                </a:solidFill>
                <a:effectLst/>
                <a:latin typeface="Aptos (Body)"/>
              </a:rPr>
              <a:t>Goal</a:t>
            </a:r>
            <a:r>
              <a:rPr kumimoji="0" lang="en-US" altLang="en-US" sz="1400" b="0" i="0" u="none" strike="noStrike" cap="none" normalizeH="0" baseline="0" dirty="0">
                <a:ln>
                  <a:noFill/>
                </a:ln>
                <a:solidFill>
                  <a:schemeClr val="tx1"/>
                </a:solidFill>
                <a:effectLst/>
                <a:latin typeface="Aptos (Body)"/>
              </a:rPr>
              <a:t>: </a:t>
            </a:r>
            <a:r>
              <a:rPr lang="en-US" altLang="en-US" sz="1400" dirty="0">
                <a:latin typeface="Aptos (Body)"/>
              </a:rPr>
              <a:t>Reduce unplanned downtime through early identification of maintenance needs</a:t>
            </a:r>
            <a:r>
              <a:rPr kumimoji="0" lang="en-US" altLang="en-US" sz="1400" b="0" i="0" u="none" strike="noStrike" cap="none" normalizeH="0" baseline="0" dirty="0">
                <a:ln>
                  <a:noFill/>
                </a:ln>
                <a:solidFill>
                  <a:schemeClr val="tx1"/>
                </a:solidFill>
                <a:effectLst/>
                <a:latin typeface="Aptos (Body)"/>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latin typeface="Aptos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Body)"/>
              </a:rPr>
              <a:t>Binary classification problem: </a:t>
            </a:r>
            <a:r>
              <a:rPr kumimoji="0" lang="en-US" altLang="en-US" sz="1400" b="0" i="0" u="none" strike="noStrike" cap="none" normalizeH="0" baseline="0" dirty="0" err="1">
                <a:ln>
                  <a:noFill/>
                </a:ln>
                <a:solidFill>
                  <a:schemeClr val="tx1"/>
                </a:solidFill>
                <a:effectLst/>
                <a:latin typeface="Aptos (Body)"/>
              </a:rPr>
              <a:t>MaintenanceRequired</a:t>
            </a:r>
            <a:r>
              <a:rPr kumimoji="0" lang="en-US" altLang="en-US" sz="1400" b="0" i="0" u="none" strike="noStrike" cap="none" normalizeH="0" baseline="0" dirty="0">
                <a:ln>
                  <a:noFill/>
                </a:ln>
                <a:solidFill>
                  <a:schemeClr val="tx1"/>
                </a:solidFill>
                <a:effectLst/>
                <a:latin typeface="Aptos (Body)"/>
              </a:rPr>
              <a:t> (0/1)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Target Variable: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Unicode MS"/>
              </a:rPr>
              <a:t>MaintenanceRequired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graphicFrame>
        <p:nvGraphicFramePr>
          <p:cNvPr id="14" name="Table 13">
            <a:extLst>
              <a:ext uri="{FF2B5EF4-FFF2-40B4-BE49-F238E27FC236}">
                <a16:creationId xmlns:a16="http://schemas.microsoft.com/office/drawing/2014/main" id="{EE43CE3C-CDF7-F2F3-ED79-E1C064A13067}"/>
              </a:ext>
            </a:extLst>
          </p:cNvPr>
          <p:cNvGraphicFramePr>
            <a:graphicFrameLocks noGrp="1"/>
          </p:cNvGraphicFramePr>
          <p:nvPr>
            <p:extLst>
              <p:ext uri="{D42A27DB-BD31-4B8C-83A1-F6EECF244321}">
                <p14:modId xmlns:p14="http://schemas.microsoft.com/office/powerpoint/2010/main" val="2944102612"/>
              </p:ext>
            </p:extLst>
          </p:nvPr>
        </p:nvGraphicFramePr>
        <p:xfrm>
          <a:off x="5959624" y="3998115"/>
          <a:ext cx="5789570" cy="1097280"/>
        </p:xfrm>
        <a:graphic>
          <a:graphicData uri="http://schemas.openxmlformats.org/drawingml/2006/table">
            <a:tbl>
              <a:tblPr firstRow="1" bandRow="1">
                <a:tableStyleId>{5C22544A-7EE6-4342-B048-85BDC9FD1C3A}</a:tableStyleId>
              </a:tblPr>
              <a:tblGrid>
                <a:gridCol w="2894785">
                  <a:extLst>
                    <a:ext uri="{9D8B030D-6E8A-4147-A177-3AD203B41FA5}">
                      <a16:colId xmlns:a16="http://schemas.microsoft.com/office/drawing/2014/main" val="3973972653"/>
                    </a:ext>
                  </a:extLst>
                </a:gridCol>
                <a:gridCol w="2894785">
                  <a:extLst>
                    <a:ext uri="{9D8B030D-6E8A-4147-A177-3AD203B41FA5}">
                      <a16:colId xmlns:a16="http://schemas.microsoft.com/office/drawing/2014/main" val="3114291906"/>
                    </a:ext>
                  </a:extLst>
                </a:gridCol>
              </a:tblGrid>
              <a:tr h="316173">
                <a:tc>
                  <a:txBody>
                    <a:bodyPr/>
                    <a:lstStyle/>
                    <a:p>
                      <a:r>
                        <a:rPr lang="en-ZA" dirty="0" err="1"/>
                        <a:t>Mantainance</a:t>
                      </a:r>
                      <a:r>
                        <a:rPr lang="en-ZA" dirty="0"/>
                        <a:t> Required</a:t>
                      </a:r>
                      <a:endParaRPr lang="en-US" dirty="0"/>
                    </a:p>
                  </a:txBody>
                  <a:tcPr/>
                </a:tc>
                <a:tc>
                  <a:txBody>
                    <a:bodyPr/>
                    <a:lstStyle/>
                    <a:p>
                      <a:r>
                        <a:rPr lang="en-ZA" dirty="0"/>
                        <a:t>Target</a:t>
                      </a:r>
                      <a:endParaRPr lang="en-US" dirty="0"/>
                    </a:p>
                  </a:txBody>
                  <a:tcPr/>
                </a:tc>
                <a:extLst>
                  <a:ext uri="{0D108BD9-81ED-4DB2-BD59-A6C34878D82A}">
                    <a16:rowId xmlns:a16="http://schemas.microsoft.com/office/drawing/2014/main" val="2498342786"/>
                  </a:ext>
                </a:extLst>
              </a:tr>
              <a:tr h="316173">
                <a:tc>
                  <a:txBody>
                    <a:bodyPr/>
                    <a:lstStyle/>
                    <a:p>
                      <a:r>
                        <a:rPr lang="en-ZA" dirty="0"/>
                        <a:t>Yes</a:t>
                      </a:r>
                      <a:endParaRPr lang="en-US" dirty="0"/>
                    </a:p>
                  </a:txBody>
                  <a:tcPr/>
                </a:tc>
                <a:tc>
                  <a:txBody>
                    <a:bodyPr/>
                    <a:lstStyle/>
                    <a:p>
                      <a:r>
                        <a:rPr lang="en-ZA" dirty="0"/>
                        <a:t>1</a:t>
                      </a:r>
                      <a:endParaRPr lang="en-US" dirty="0"/>
                    </a:p>
                  </a:txBody>
                  <a:tcPr/>
                </a:tc>
                <a:extLst>
                  <a:ext uri="{0D108BD9-81ED-4DB2-BD59-A6C34878D82A}">
                    <a16:rowId xmlns:a16="http://schemas.microsoft.com/office/drawing/2014/main" val="3165472283"/>
                  </a:ext>
                </a:extLst>
              </a:tr>
              <a:tr h="316173">
                <a:tc>
                  <a:txBody>
                    <a:bodyPr/>
                    <a:lstStyle/>
                    <a:p>
                      <a:r>
                        <a:rPr lang="en-ZA" dirty="0"/>
                        <a:t>No</a:t>
                      </a:r>
                      <a:endParaRPr lang="en-US" dirty="0"/>
                    </a:p>
                  </a:txBody>
                  <a:tcPr/>
                </a:tc>
                <a:tc>
                  <a:txBody>
                    <a:bodyPr/>
                    <a:lstStyle/>
                    <a:p>
                      <a:r>
                        <a:rPr lang="en-ZA" dirty="0"/>
                        <a:t>0</a:t>
                      </a:r>
                      <a:endParaRPr lang="en-US" dirty="0"/>
                    </a:p>
                  </a:txBody>
                  <a:tcPr/>
                </a:tc>
                <a:extLst>
                  <a:ext uri="{0D108BD9-81ED-4DB2-BD59-A6C34878D82A}">
                    <a16:rowId xmlns:a16="http://schemas.microsoft.com/office/drawing/2014/main" val="1498206858"/>
                  </a:ext>
                </a:extLst>
              </a:tr>
            </a:tbl>
          </a:graphicData>
        </a:graphic>
      </p:graphicFrame>
      <p:pic>
        <p:nvPicPr>
          <p:cNvPr id="1026" name="Picture 2">
            <a:extLst>
              <a:ext uri="{FF2B5EF4-FFF2-40B4-BE49-F238E27FC236}">
                <a16:creationId xmlns:a16="http://schemas.microsoft.com/office/drawing/2014/main" id="{C7B908E6-C245-1A57-F4B5-FD35B26D6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106" y="2665535"/>
            <a:ext cx="2089769" cy="208976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chine Learning in Automotive: Pros, Cons, and Applications">
            <a:extLst>
              <a:ext uri="{FF2B5EF4-FFF2-40B4-BE49-F238E27FC236}">
                <a16:creationId xmlns:a16="http://schemas.microsoft.com/office/drawing/2014/main" id="{195F6325-5A86-3CE3-C515-63BE589001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5959623" y="5156871"/>
            <a:ext cx="5580990" cy="1644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5432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46301-C61C-4D5E-1328-BE66C0DCE75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A55EE1D-715E-A62F-6B44-35B8F74D19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2CDC6ADD-4830-CC5C-2DE3-7DAC3E92967A}"/>
              </a:ext>
            </a:extLst>
          </p:cNvPr>
          <p:cNvSpPr txBox="1">
            <a:spLocks/>
          </p:cNvSpPr>
          <p:nvPr/>
        </p:nvSpPr>
        <p:spPr>
          <a:xfrm>
            <a:off x="403504" y="415048"/>
            <a:ext cx="9271437" cy="4206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US" b="1" dirty="0">
                <a:solidFill>
                  <a:srgbClr val="C00000"/>
                </a:solidFill>
              </a:rPr>
              <a:t>Data Understanding, Preparation &amp; Feature Engineering</a:t>
            </a:r>
          </a:p>
        </p:txBody>
      </p:sp>
      <p:sp>
        <p:nvSpPr>
          <p:cNvPr id="4" name="Content Placeholder 2">
            <a:extLst>
              <a:ext uri="{FF2B5EF4-FFF2-40B4-BE49-F238E27FC236}">
                <a16:creationId xmlns:a16="http://schemas.microsoft.com/office/drawing/2014/main" id="{70B016E6-A60F-8760-686D-F83C880A4578}"/>
              </a:ext>
            </a:extLst>
          </p:cNvPr>
          <p:cNvSpPr txBox="1">
            <a:spLocks/>
          </p:cNvSpPr>
          <p:nvPr/>
        </p:nvSpPr>
        <p:spPr>
          <a:xfrm>
            <a:off x="228142" y="1142286"/>
            <a:ext cx="11707462" cy="56220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Duplicate removal: unique(</a:t>
            </a:r>
            <a:r>
              <a:rPr lang="en-US" sz="2400" dirty="0" err="1"/>
              <a:t>df</a:t>
            </a:r>
            <a:r>
              <a:rPr lang="en-US" sz="2400" dirty="0"/>
              <a:t>) used to eliminate repeated downtime records.</a:t>
            </a:r>
          </a:p>
          <a:p>
            <a:r>
              <a:rPr lang="en-US" sz="2400" dirty="0"/>
              <a:t>Missing numeric values: imputed using median (robust to outliers).</a:t>
            </a:r>
          </a:p>
          <a:p>
            <a:r>
              <a:rPr lang="en-US" sz="2400" dirty="0"/>
              <a:t>Missing categorical values: replaced with 'Unknown' category.</a:t>
            </a:r>
          </a:p>
          <a:p>
            <a:r>
              <a:rPr lang="en-US" sz="2400" dirty="0"/>
              <a:t>Fixed </a:t>
            </a:r>
            <a:r>
              <a:rPr lang="en-US" sz="2400" dirty="0" err="1"/>
              <a:t>NaN</a:t>
            </a:r>
            <a:r>
              <a:rPr lang="en-US" sz="2400" dirty="0"/>
              <a:t> and infinite values before modelling  our data in H2O environment</a:t>
            </a:r>
          </a:p>
          <a:p>
            <a:r>
              <a:rPr lang="en-US" sz="2400" dirty="0"/>
              <a:t>High-cardinality identifiers removed (e.g., </a:t>
            </a:r>
            <a:r>
              <a:rPr lang="en-US" sz="2400" dirty="0" err="1"/>
              <a:t>DowntimeId</a:t>
            </a:r>
            <a:r>
              <a:rPr lang="en-US" sz="2400" dirty="0"/>
              <a:t>) to reduce noise.</a:t>
            </a:r>
          </a:p>
          <a:p>
            <a:r>
              <a:rPr lang="en-US" sz="2400" dirty="0"/>
              <a:t>Leakage removed (</a:t>
            </a:r>
            <a:r>
              <a:rPr lang="en-US" sz="2400" dirty="0" err="1"/>
              <a:t>DowntimeType</a:t>
            </a:r>
            <a:r>
              <a:rPr lang="en-US" sz="2400" dirty="0"/>
              <a:t>), Class order forced (levels = c("0","1")) ,Numeric conversion + median imputation were also used.</a:t>
            </a:r>
          </a:p>
          <a:p>
            <a:pPr marL="0" indent="0">
              <a:buNone/>
            </a:pPr>
            <a:r>
              <a:rPr lang="en-US" sz="2400" b="1" dirty="0">
                <a:solidFill>
                  <a:srgbClr val="C00000"/>
                </a:solidFill>
                <a:latin typeface="Aptos (Body)"/>
              </a:rPr>
              <a:t>Feature Engineering </a:t>
            </a:r>
            <a:r>
              <a:rPr lang="en-US" sz="2400" b="1" dirty="0">
                <a:latin typeface="Aptos (Body)"/>
              </a:rPr>
              <a:t>(</a:t>
            </a:r>
            <a:r>
              <a:rPr lang="en-US" sz="2400" b="1" dirty="0"/>
              <a:t>Purpose: Improve model ability to capture operational </a:t>
            </a:r>
            <a:r>
              <a:rPr lang="en-US" sz="2400" b="1" dirty="0" err="1"/>
              <a:t>behaviour</a:t>
            </a:r>
            <a:r>
              <a:rPr lang="en-US" sz="2400" b="1" dirty="0"/>
              <a:t> patterns)</a:t>
            </a:r>
            <a:endParaRPr lang="en-US" sz="2400" b="1" dirty="0">
              <a:latin typeface="Aptos (Body)"/>
            </a:endParaRPr>
          </a:p>
          <a:p>
            <a:r>
              <a:rPr lang="en-US" sz="2400" dirty="0"/>
              <a:t>Target creation: based on median downtime threshold + failure keywords.</a:t>
            </a:r>
          </a:p>
          <a:p>
            <a:r>
              <a:rPr lang="en-US" sz="2400" dirty="0"/>
              <a:t>New features: Hour extracted from timestamp, </a:t>
            </a:r>
            <a:r>
              <a:rPr lang="en-US" sz="2400" dirty="0" err="1"/>
              <a:t>DayOfWeek</a:t>
            </a:r>
            <a:r>
              <a:rPr lang="en-US" sz="2400" dirty="0"/>
              <a:t> derived from date.</a:t>
            </a:r>
          </a:p>
          <a:p>
            <a:r>
              <a:rPr lang="en-US" sz="2400" dirty="0" err="1"/>
              <a:t>EmergencyFlag</a:t>
            </a:r>
            <a:r>
              <a:rPr lang="en-US" sz="2400" dirty="0"/>
              <a:t> created using keyword detection (emergency, critical, urgent).</a:t>
            </a:r>
          </a:p>
          <a:p>
            <a:endParaRPr lang="en-US" sz="2400" dirty="0"/>
          </a:p>
        </p:txBody>
      </p:sp>
      <p:sp>
        <p:nvSpPr>
          <p:cNvPr id="5" name="Rectangle 4">
            <a:extLst>
              <a:ext uri="{FF2B5EF4-FFF2-40B4-BE49-F238E27FC236}">
                <a16:creationId xmlns:a16="http://schemas.microsoft.com/office/drawing/2014/main" id="{37D5E89D-A649-FCCE-0EFD-95361296BBCD}"/>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BF2F8D98-9CA6-C776-8CF0-AD6F52EBDEA0}"/>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375A8AB-7344-F889-16ED-580954726ECA}"/>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spTree>
    <p:extLst>
      <p:ext uri="{BB962C8B-B14F-4D97-AF65-F5344CB8AC3E}">
        <p14:creationId xmlns:p14="http://schemas.microsoft.com/office/powerpoint/2010/main" val="1319719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2DD76-0BB7-AF9B-7A0C-6FF4317D33F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5785022-2A51-E743-30DB-23E51EA76D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585007F7-0919-A9D0-BEC1-DE8E4A3DF211}"/>
              </a:ext>
            </a:extLst>
          </p:cNvPr>
          <p:cNvSpPr txBox="1">
            <a:spLocks/>
          </p:cNvSpPr>
          <p:nvPr/>
        </p:nvSpPr>
        <p:spPr>
          <a:xfrm>
            <a:off x="403504" y="415048"/>
            <a:ext cx="9271437" cy="4206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US" b="1" dirty="0">
                <a:solidFill>
                  <a:srgbClr val="C00000"/>
                </a:solidFill>
                <a:latin typeface="Aptos (Body)"/>
              </a:rPr>
              <a:t>4. Machine Learning Models</a:t>
            </a:r>
          </a:p>
        </p:txBody>
      </p:sp>
      <p:sp>
        <p:nvSpPr>
          <p:cNvPr id="4" name="Content Placeholder 2">
            <a:extLst>
              <a:ext uri="{FF2B5EF4-FFF2-40B4-BE49-F238E27FC236}">
                <a16:creationId xmlns:a16="http://schemas.microsoft.com/office/drawing/2014/main" id="{173A6AC1-F31E-0E11-46C7-2E21ED3AAAFE}"/>
              </a:ext>
            </a:extLst>
          </p:cNvPr>
          <p:cNvSpPr txBox="1">
            <a:spLocks/>
          </p:cNvSpPr>
          <p:nvPr/>
        </p:nvSpPr>
        <p:spPr>
          <a:xfrm>
            <a:off x="228142" y="1142286"/>
            <a:ext cx="11707462" cy="56220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b="1" dirty="0"/>
              <a:t>Four classification techniques were applied:</a:t>
            </a:r>
          </a:p>
          <a:p>
            <a:pPr marL="0" indent="0">
              <a:lnSpc>
                <a:spcPct val="150000"/>
              </a:lnSpc>
              <a:buNone/>
            </a:pPr>
            <a:r>
              <a:rPr lang="en-US" dirty="0"/>
              <a:t>- Decision Tree (interpretable rule-based model)</a:t>
            </a:r>
          </a:p>
          <a:p>
            <a:pPr marL="0" indent="0">
              <a:lnSpc>
                <a:spcPct val="150000"/>
              </a:lnSpc>
              <a:buNone/>
            </a:pPr>
            <a:r>
              <a:rPr lang="en-US" dirty="0"/>
              <a:t>- Logistic Regression (linear baseline model)</a:t>
            </a:r>
          </a:p>
          <a:p>
            <a:pPr marL="0" indent="0">
              <a:lnSpc>
                <a:spcPct val="150000"/>
              </a:lnSpc>
              <a:buNone/>
            </a:pPr>
            <a:r>
              <a:rPr lang="en-US" dirty="0"/>
              <a:t>- Naive Bayes (probabilistic independence model)</a:t>
            </a:r>
            <a:endParaRPr lang="en-US" b="1" dirty="0"/>
          </a:p>
          <a:p>
            <a:pPr marL="0" indent="0">
              <a:buNone/>
            </a:pPr>
            <a:endParaRPr lang="en-US" dirty="0"/>
          </a:p>
        </p:txBody>
      </p:sp>
      <p:sp>
        <p:nvSpPr>
          <p:cNvPr id="5" name="Rectangle 4">
            <a:extLst>
              <a:ext uri="{FF2B5EF4-FFF2-40B4-BE49-F238E27FC236}">
                <a16:creationId xmlns:a16="http://schemas.microsoft.com/office/drawing/2014/main" id="{14D316CE-BA63-4585-DFB7-6EC3F4566F73}"/>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38C8983E-0F76-F997-D466-989AFF980191}"/>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3B4A22E-AF75-104F-14D6-3BF7281A3923}"/>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spTree>
    <p:extLst>
      <p:ext uri="{BB962C8B-B14F-4D97-AF65-F5344CB8AC3E}">
        <p14:creationId xmlns:p14="http://schemas.microsoft.com/office/powerpoint/2010/main" val="1298775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A84AA-879B-1608-E5B0-DADF5BEADB5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61AC087-A4BC-5BB7-5663-D862D79BC1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43070995-D11D-90BC-C0B5-4A9F4737ECAB}"/>
              </a:ext>
            </a:extLst>
          </p:cNvPr>
          <p:cNvSpPr txBox="1">
            <a:spLocks/>
          </p:cNvSpPr>
          <p:nvPr/>
        </p:nvSpPr>
        <p:spPr>
          <a:xfrm>
            <a:off x="403504" y="415048"/>
            <a:ext cx="9271437" cy="4206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US" b="1" dirty="0">
                <a:solidFill>
                  <a:srgbClr val="C00000"/>
                </a:solidFill>
              </a:rPr>
              <a:t>Model Evaluation &amp; Results</a:t>
            </a:r>
          </a:p>
        </p:txBody>
      </p:sp>
      <p:sp>
        <p:nvSpPr>
          <p:cNvPr id="4" name="Content Placeholder 2">
            <a:extLst>
              <a:ext uri="{FF2B5EF4-FFF2-40B4-BE49-F238E27FC236}">
                <a16:creationId xmlns:a16="http://schemas.microsoft.com/office/drawing/2014/main" id="{7E7EBEC9-BC9B-FA34-18A3-BAD0D0C5542C}"/>
              </a:ext>
            </a:extLst>
          </p:cNvPr>
          <p:cNvSpPr txBox="1">
            <a:spLocks/>
          </p:cNvSpPr>
          <p:nvPr/>
        </p:nvSpPr>
        <p:spPr>
          <a:xfrm>
            <a:off x="228142" y="1142286"/>
            <a:ext cx="11707462" cy="56220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t>- Used 70:30 split ensuring class representation.</a:t>
            </a:r>
          </a:p>
          <a:p>
            <a:pPr>
              <a:buFontTx/>
              <a:buChar char="-"/>
            </a:pPr>
            <a:r>
              <a:rPr lang="en-US" sz="3200" dirty="0"/>
              <a:t>Evaluation metric: AUC (Area Under Curve) - We use AUC instead of F1 because : - downtime data is often imbalanced</a:t>
            </a:r>
          </a:p>
          <a:p>
            <a:pPr>
              <a:buFontTx/>
              <a:buChar char="-"/>
            </a:pPr>
            <a:r>
              <a:rPr lang="en-US" sz="3200" b="1" dirty="0">
                <a:solidFill>
                  <a:srgbClr val="C00000"/>
                </a:solidFill>
              </a:rPr>
              <a:t>Findings:</a:t>
            </a:r>
          </a:p>
          <a:p>
            <a:pPr>
              <a:buFontTx/>
              <a:buChar char="-"/>
            </a:pPr>
            <a:r>
              <a:rPr lang="en-US" sz="2400" b="1" dirty="0"/>
              <a:t>The Decision Tree achieved the highest AUC</a:t>
            </a:r>
            <a:r>
              <a:rPr lang="en-US" sz="1900" b="1" dirty="0"/>
              <a:t> - </a:t>
            </a:r>
            <a:r>
              <a:rPr lang="en-US" sz="1900" dirty="0"/>
              <a:t>demonstrating the strongest predictive performance on the held‑out test set.</a:t>
            </a:r>
          </a:p>
          <a:p>
            <a:pPr>
              <a:buFontTx/>
              <a:buChar char="-"/>
            </a:pPr>
            <a:r>
              <a:rPr lang="en-US" sz="2400" b="1" dirty="0"/>
              <a:t>Logistic Regression showed lower performance</a:t>
            </a:r>
            <a:r>
              <a:rPr lang="en-US" sz="1900" dirty="0"/>
              <a:t>, as its linear structure limited its ability to capture non‑linear and threshold‑based patterns in maintenance </a:t>
            </a:r>
            <a:r>
              <a:rPr lang="en-US" sz="1900" dirty="0" err="1"/>
              <a:t>behaviour</a:t>
            </a:r>
            <a:r>
              <a:rPr lang="en-US" sz="1900" dirty="0"/>
              <a:t>.</a:t>
            </a:r>
          </a:p>
          <a:p>
            <a:pPr>
              <a:buFontTx/>
              <a:buChar char="-"/>
            </a:pPr>
            <a:r>
              <a:rPr lang="en-US" sz="2400" b="1" dirty="0"/>
              <a:t>Naïve Bayes performed poorest </a:t>
            </a:r>
            <a:r>
              <a:rPr lang="en-US" sz="1900" dirty="0"/>
              <a:t>-  likely due to violations of the conditional independence assumption after data cleaning and leakage removal.</a:t>
            </a:r>
          </a:p>
        </p:txBody>
      </p:sp>
      <p:sp>
        <p:nvSpPr>
          <p:cNvPr id="5" name="Rectangle 4">
            <a:extLst>
              <a:ext uri="{FF2B5EF4-FFF2-40B4-BE49-F238E27FC236}">
                <a16:creationId xmlns:a16="http://schemas.microsoft.com/office/drawing/2014/main" id="{E7878C51-FD5E-8CE0-5298-5228D34465DB}"/>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57A5BBC0-16CE-8326-181A-F4F58F9585CF}"/>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396D213-E2C4-B2ED-9A6C-1C25A3CE606A}"/>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spTree>
    <p:extLst>
      <p:ext uri="{BB962C8B-B14F-4D97-AF65-F5344CB8AC3E}">
        <p14:creationId xmlns:p14="http://schemas.microsoft.com/office/powerpoint/2010/main" val="2080355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4FF06-D6D5-055B-CCD3-32A0B79A839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308EE82-1639-3390-4870-B9D20A4EB5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A28AA4B4-1A31-DDD0-6A28-36192AE9C424}"/>
              </a:ext>
            </a:extLst>
          </p:cNvPr>
          <p:cNvSpPr txBox="1">
            <a:spLocks/>
          </p:cNvSpPr>
          <p:nvPr/>
        </p:nvSpPr>
        <p:spPr>
          <a:xfrm>
            <a:off x="403504" y="415048"/>
            <a:ext cx="9271437" cy="4206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US" b="1" dirty="0">
                <a:solidFill>
                  <a:srgbClr val="C00000"/>
                </a:solidFill>
              </a:rPr>
              <a:t>Key Drivers &amp; Conclusion</a:t>
            </a:r>
          </a:p>
        </p:txBody>
      </p:sp>
      <p:sp>
        <p:nvSpPr>
          <p:cNvPr id="4" name="Content Placeholder 2">
            <a:extLst>
              <a:ext uri="{FF2B5EF4-FFF2-40B4-BE49-F238E27FC236}">
                <a16:creationId xmlns:a16="http://schemas.microsoft.com/office/drawing/2014/main" id="{81F2DFB9-892B-ABE5-625D-8F1D5C367469}"/>
              </a:ext>
            </a:extLst>
          </p:cNvPr>
          <p:cNvSpPr txBox="1">
            <a:spLocks/>
          </p:cNvSpPr>
          <p:nvPr/>
        </p:nvSpPr>
        <p:spPr>
          <a:xfrm>
            <a:off x="228142" y="1142286"/>
            <a:ext cx="11707462" cy="56220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Top predictive features (Decision Tree):</a:t>
            </a:r>
          </a:p>
          <a:p>
            <a:pPr marL="0" indent="0">
              <a:buNone/>
            </a:pPr>
            <a:r>
              <a:rPr lang="en-US" dirty="0"/>
              <a:t>- Downtime Duration</a:t>
            </a:r>
          </a:p>
          <a:p>
            <a:pPr marL="0" indent="0">
              <a:buNone/>
            </a:pPr>
            <a:r>
              <a:rPr lang="en-US" dirty="0"/>
              <a:t>- Fault Duration</a:t>
            </a:r>
          </a:p>
          <a:p>
            <a:pPr marL="0" indent="0">
              <a:buNone/>
            </a:pPr>
            <a:r>
              <a:rPr lang="en-US" dirty="0"/>
              <a:t>- Emergency Flag</a:t>
            </a:r>
          </a:p>
          <a:p>
            <a:pPr marL="0" indent="0">
              <a:buNone/>
            </a:pPr>
            <a:r>
              <a:rPr lang="en-US" dirty="0"/>
              <a:t>- Downtime Type</a:t>
            </a:r>
          </a:p>
          <a:p>
            <a:pPr marL="0" indent="0">
              <a:buNone/>
            </a:pPr>
            <a:r>
              <a:rPr lang="en-US" dirty="0"/>
              <a:t>- Hour of occurrence</a:t>
            </a:r>
          </a:p>
          <a:p>
            <a:r>
              <a:rPr lang="en-US" b="1" dirty="0">
                <a:solidFill>
                  <a:srgbClr val="C00000"/>
                </a:solidFill>
              </a:rPr>
              <a:t>Conclusion:</a:t>
            </a:r>
          </a:p>
          <a:p>
            <a:pPr marL="0" indent="0" fontAlgn="t">
              <a:buNone/>
            </a:pPr>
            <a:r>
              <a:rPr lang="en-US" sz="2000" b="1" dirty="0"/>
              <a:t>ROC Curve Insight</a:t>
            </a:r>
          </a:p>
          <a:p>
            <a:pPr fontAlgn="t">
              <a:buFont typeface="Wingdings" panose="05000000000000000000" pitchFamily="2" charset="2"/>
              <a:buChar char="ü"/>
            </a:pPr>
            <a:r>
              <a:rPr lang="en-US" sz="2000" dirty="0"/>
              <a:t>Decision Tree shows the strongest ROC performance.</a:t>
            </a:r>
          </a:p>
          <a:p>
            <a:pPr fontAlgn="t">
              <a:buFont typeface="Wingdings" panose="05000000000000000000" pitchFamily="2" charset="2"/>
              <a:buChar char="ü"/>
            </a:pPr>
            <a:r>
              <a:rPr lang="en-US" sz="2000" dirty="0"/>
              <a:t>High sensitivity achieved with better separation of classes.</a:t>
            </a:r>
          </a:p>
          <a:p>
            <a:pPr fontAlgn="t">
              <a:buFont typeface="Wingdings" panose="05000000000000000000" pitchFamily="2" charset="2"/>
              <a:buChar char="ü"/>
            </a:pPr>
            <a:r>
              <a:rPr lang="en-US" sz="2000" dirty="0"/>
              <a:t>Logistic Regression offers moderate discrimination.</a:t>
            </a:r>
          </a:p>
          <a:p>
            <a:pPr fontAlgn="t">
              <a:buFont typeface="Wingdings" panose="05000000000000000000" pitchFamily="2" charset="2"/>
              <a:buChar char="ü"/>
            </a:pPr>
            <a:r>
              <a:rPr lang="en-US" sz="2000" dirty="0"/>
              <a:t>Naïve Bayes performs close to random guessing.</a:t>
            </a:r>
            <a:endParaRPr lang="en-US" b="1" dirty="0">
              <a:solidFill>
                <a:srgbClr val="C00000"/>
              </a:solidFill>
            </a:endParaRPr>
          </a:p>
        </p:txBody>
      </p:sp>
      <p:sp>
        <p:nvSpPr>
          <p:cNvPr id="5" name="Rectangle 4">
            <a:extLst>
              <a:ext uri="{FF2B5EF4-FFF2-40B4-BE49-F238E27FC236}">
                <a16:creationId xmlns:a16="http://schemas.microsoft.com/office/drawing/2014/main" id="{95191B54-F956-9613-A740-4E2723A1791A}"/>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F2382E26-0177-2902-CD58-C33D4FE2B692}"/>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9CC4A1B-8A15-5E83-1FF5-91EC3DAA88DC}"/>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pic>
        <p:nvPicPr>
          <p:cNvPr id="9" name="Picture 8">
            <a:extLst>
              <a:ext uri="{FF2B5EF4-FFF2-40B4-BE49-F238E27FC236}">
                <a16:creationId xmlns:a16="http://schemas.microsoft.com/office/drawing/2014/main" id="{8C3FF170-DC08-9C97-E16C-912654BEB6C1}"/>
              </a:ext>
            </a:extLst>
          </p:cNvPr>
          <p:cNvPicPr>
            <a:picLocks noChangeAspect="1"/>
          </p:cNvPicPr>
          <p:nvPr/>
        </p:nvPicPr>
        <p:blipFill>
          <a:blip r:embed="rId4"/>
          <a:stretch>
            <a:fillRect/>
          </a:stretch>
        </p:blipFill>
        <p:spPr>
          <a:xfrm>
            <a:off x="6447692" y="1036101"/>
            <a:ext cx="5516166" cy="4244708"/>
          </a:xfrm>
          <a:prstGeom prst="rect">
            <a:avLst/>
          </a:prstGeom>
        </p:spPr>
      </p:pic>
    </p:spTree>
    <p:extLst>
      <p:ext uri="{BB962C8B-B14F-4D97-AF65-F5344CB8AC3E}">
        <p14:creationId xmlns:p14="http://schemas.microsoft.com/office/powerpoint/2010/main" val="5856384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638</Words>
  <Application>Microsoft Office PowerPoint</Application>
  <PresentationFormat>Widescreen</PresentationFormat>
  <Paragraphs>81</Paragraphs>
  <Slides>6</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vt:i4>
      </vt:variant>
    </vt:vector>
  </HeadingPairs>
  <TitlesOfParts>
    <vt:vector size="16" baseType="lpstr">
      <vt:lpstr>Aptos</vt:lpstr>
      <vt:lpstr>Aptos (Body)</vt:lpstr>
      <vt:lpstr>Aptos Display</vt:lpstr>
      <vt:lpstr>Arial</vt:lpstr>
      <vt:lpstr>Arial Unicode MS</vt:lpstr>
      <vt:lpstr>Calibri</vt:lpstr>
      <vt:lpstr>Calibri (Body)</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KwaZulu-Natal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Danielle Jade Roberts</dc:creator>
  <cp:lastModifiedBy>Mawanda Mbaza (226024595)</cp:lastModifiedBy>
  <cp:revision>47</cp:revision>
  <dcterms:created xsi:type="dcterms:W3CDTF">2025-05-12T08:10:08Z</dcterms:created>
  <dcterms:modified xsi:type="dcterms:W3CDTF">2026-05-15T12:03:17Z</dcterms:modified>
</cp:coreProperties>
</file>