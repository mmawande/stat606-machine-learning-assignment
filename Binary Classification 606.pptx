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4E02D4-7CEE-4426-B842-C52CC7EAF1AF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A4A676-2660-4BB4-BF48-DD096EA23FE3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961855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A525B-7C89-0818-AFF1-E184F85A3D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FAFA97-542C-5540-583F-A357E4558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93099-2FDC-8337-46B2-9798EB39B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44EEB-A394-AC7A-4C4F-9D81D689B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DA6D1-146F-7C62-0C27-01A5A8CE7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85191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51C24-FE9A-AF0D-D00E-AF05DD883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38984-ADDD-77D9-4862-6D2093C30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B571C-5208-9F89-2400-C2B0029D2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6B03C-18AF-BCF7-E104-878387850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7892C7-A7C8-C835-3495-65D9A721C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522942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977A2-EEDC-9396-EDF5-8C9C6F9BB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4CABE-C170-BFE5-06D9-8ACAE81D6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128E9F-94AB-405C-59E7-24D2E11EC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D097F-79C5-1909-B2E2-777ABCC2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3CB1-0DE5-BC1C-5766-A9AE5D2B0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482488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4886D-4DCA-9E15-0FBB-E98DD9EE5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277A2-6257-646C-4C99-5AFFEF6B4D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6FDC54-5F33-1D28-E44B-748DED4EB6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1293C8-C19E-2A47-6E08-F3DA087A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144E10-9319-881B-8316-B2158B399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070C26-1625-BD6B-A05C-228483145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81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D8D1A-FAEB-E581-1AEC-5DFADEFFB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EDF994-0AAA-9EC1-1D52-68FC99E56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38D17B-A38D-6336-8041-9051675654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D75745-443A-6D4D-2FE4-61F5ED1928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D16C13-DAEA-108A-D2B1-67307F2B63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BC0D69-2666-4DDC-DF9C-E184EF8E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90385C-4CB8-D8E0-58F4-068D1BB85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3D98B2-F141-7D75-19AD-4FD4394EB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38348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AB291-12BF-9615-65A5-A94006FD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9B4F9B-FC29-593B-4818-1C55D924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C4C946-4C9E-23D6-82E8-84D14A582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F51066-0E09-E6A4-4DDB-4A8E8AB0D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609904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40004B-EB7D-474F-0123-D1B78E477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B4FE66-6FA6-0125-9554-8CCCEB11A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25DFC-B48F-274D-62EF-C7C7E77A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50754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918C2-C4F7-E472-07E2-1E089EE1D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84C90-838C-DF94-A2E9-8D7878CAC2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FEBE6-185C-0728-3D72-7B2AF39B1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A6908-7B4E-E75F-50B6-90B5FB9D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098077-6C99-3561-ED3C-1A23D8469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92B655-BCAF-2B8A-CD4D-8727DC2B2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882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2559A-1193-6725-7B6F-8AB4F185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DFF954-D366-4B9D-0AA0-0BA4BB47D3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87CD4F-89F5-7B47-FCD3-01C68184C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754BE2-BA2C-E574-4CB9-051EFFE9F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82B7A3-F6F1-D21A-5365-2B1FD2AD4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BE9D5-562A-CB0A-5E17-984A58634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16109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FEE06-3899-C086-35D6-7C7D832C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FBC438-4595-117D-45ED-51E59A8159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3B438-8537-7529-0790-63B98C9A5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B9BC3-400E-7797-D7C2-F5A3551B8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3ECA-3C45-1959-9733-3D5A7E3D7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01872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C7167A-5843-4CDA-A095-6B6172A11E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00FD8E-3662-A984-E61B-AFFF10A17F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5A59E7-4E37-D3D4-CE9E-A854CDDCE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3A528-9CB2-2C4C-AEB0-612A80A73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7EEB3-A479-90A1-2C3C-272C6E20E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5829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8D1900-CA9B-F026-E1AE-ED5A27C64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D024A-CD96-5611-2ABD-6674A497F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C3FDE-5A9B-C91C-9380-AAA4BC3E46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997BC2-908B-4AE2-B66B-0BE82B2F56FB}" type="datetimeFigureOut">
              <a:rPr lang="en-ZA" smtClean="0"/>
              <a:t>2026/04/27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D5B6D-ED0F-11DF-950B-0EEC27C924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456FE-0192-C8FF-4E6D-0DEF39714F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99107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70D246-911C-D7B3-6009-055DAF83A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21911"/>
            <a:ext cx="12192000" cy="20136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2B0773-86CD-D19C-AD6C-48CDE5F56A4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951" y="170579"/>
            <a:ext cx="2048257" cy="74761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5ECAFAF-4F91-67A8-9086-1AC0C30FB6F7}"/>
              </a:ext>
            </a:extLst>
          </p:cNvPr>
          <p:cNvSpPr txBox="1">
            <a:spLocks/>
          </p:cNvSpPr>
          <p:nvPr/>
        </p:nvSpPr>
        <p:spPr>
          <a:xfrm>
            <a:off x="3126659" y="3686334"/>
            <a:ext cx="5170253" cy="836801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29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ZA" sz="2000" dirty="0">
                <a:solidFill>
                  <a:schemeClr val="bg2">
                    <a:lumMod val="25000"/>
                  </a:schemeClr>
                </a:solidFill>
                <a:latin typeface="Calibri (Body)"/>
              </a:rPr>
              <a:t>By Y</a:t>
            </a:r>
            <a:r>
              <a:rPr lang="en-US" sz="2000" dirty="0" err="1">
                <a:solidFill>
                  <a:schemeClr val="bg2">
                    <a:lumMod val="25000"/>
                  </a:schemeClr>
                </a:solidFill>
                <a:latin typeface="Calibri (Body)"/>
              </a:rPr>
              <a:t>anga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libri (Body)"/>
              </a:rPr>
              <a:t> Ndamase (226029024) &amp; Mawanda Mbaza (226024595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E40223-E29F-E9DF-DB75-96BBABB8729D}"/>
              </a:ext>
            </a:extLst>
          </p:cNvPr>
          <p:cNvSpPr txBox="1">
            <a:spLocks/>
          </p:cNvSpPr>
          <p:nvPr/>
        </p:nvSpPr>
        <p:spPr>
          <a:xfrm>
            <a:off x="363794" y="183180"/>
            <a:ext cx="9293941" cy="147002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C80000"/>
                </a:solidFill>
                <a:latin typeface="Aptos (Body)"/>
              </a:rPr>
              <a:t>Machine Learning for Downtime                  			Prediction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387C65-0A84-4594-D0D7-F1DE8BFCFA6D}"/>
              </a:ext>
            </a:extLst>
          </p:cNvPr>
          <p:cNvSpPr txBox="1"/>
          <p:nvPr/>
        </p:nvSpPr>
        <p:spPr>
          <a:xfrm>
            <a:off x="3224980" y="1717898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alibri (Body)"/>
              </a:rPr>
              <a:t>STAT606 Practical Assignment</a:t>
            </a:r>
          </a:p>
          <a:p>
            <a:r>
              <a:rPr lang="en-US" sz="3200" dirty="0">
                <a:latin typeface="Calibri (Body)"/>
              </a:rPr>
              <a:t>Binary Classification: Maintenance Requirement Prediction</a:t>
            </a:r>
          </a:p>
        </p:txBody>
      </p:sp>
    </p:spTree>
    <p:extLst>
      <p:ext uri="{BB962C8B-B14F-4D97-AF65-F5344CB8AC3E}">
        <p14:creationId xmlns:p14="http://schemas.microsoft.com/office/powerpoint/2010/main" val="1094209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4FEB827-882A-2F2B-855D-D4A61117ABF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951" y="170579"/>
            <a:ext cx="2048257" cy="74761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AE4EB-89E8-C0C6-CCBB-B4F0C01CE8F0}"/>
              </a:ext>
            </a:extLst>
          </p:cNvPr>
          <p:cNvSpPr txBox="1">
            <a:spLocks/>
          </p:cNvSpPr>
          <p:nvPr/>
        </p:nvSpPr>
        <p:spPr>
          <a:xfrm>
            <a:off x="403505" y="415048"/>
            <a:ext cx="7422972" cy="444692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b="1" dirty="0">
                <a:solidFill>
                  <a:srgbClr val="C00000"/>
                </a:solidFill>
              </a:rPr>
              <a:t>Brief introduction to the data and problem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8E7FFD-0321-1697-E0F5-A739089E6EDB}"/>
              </a:ext>
            </a:extLst>
          </p:cNvPr>
          <p:cNvSpPr txBox="1">
            <a:spLocks/>
          </p:cNvSpPr>
          <p:nvPr/>
        </p:nvSpPr>
        <p:spPr>
          <a:xfrm>
            <a:off x="228142" y="1142286"/>
            <a:ext cx="5465106" cy="56220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n-US" sz="1400" b="1" dirty="0"/>
              <a:t>Dataset</a:t>
            </a:r>
          </a:p>
          <a:p>
            <a:pPr>
              <a:buNone/>
            </a:pPr>
            <a:r>
              <a:rPr lang="en-US" sz="1400" dirty="0"/>
              <a:t>We are using the </a:t>
            </a:r>
            <a:r>
              <a:rPr lang="en-US" sz="1400" dirty="0" err="1">
                <a:latin typeface="Courier New" panose="02070309020205020404" pitchFamily="49" charset="0"/>
              </a:rPr>
              <a:t>iportal_downtimes</a:t>
            </a:r>
            <a:r>
              <a:rPr lang="en-US" sz="1400" dirty="0"/>
              <a:t> dataset from manufacturing operations.</a:t>
            </a:r>
          </a:p>
          <a:p>
            <a:pPr>
              <a:buNone/>
            </a:pPr>
            <a:r>
              <a:rPr lang="en-US" sz="1400" dirty="0"/>
              <a:t>The dataset contains machine downtime events from PLC in </a:t>
            </a:r>
            <a:r>
              <a:rPr lang="en-US" sz="1400" dirty="0" err="1"/>
              <a:t>roborts</a:t>
            </a:r>
            <a:r>
              <a:rPr lang="en-US" sz="1400" dirty="0"/>
              <a:t> such as: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downtime duration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fault duration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plant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department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area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downtime type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failure reason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machine messages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timestamps </a:t>
            </a:r>
          </a:p>
          <a:p>
            <a:pPr>
              <a:buNone/>
            </a:pPr>
            <a:r>
              <a:rPr lang="en-US" sz="1400" dirty="0"/>
              <a:t>Each row represents a machine downtime incident.</a:t>
            </a:r>
          </a:p>
          <a:p>
            <a:pPr marL="0" indent="0">
              <a:buNone/>
            </a:pPr>
            <a:r>
              <a:rPr lang="en-US" sz="1400" b="1" dirty="0"/>
              <a:t>This will help:</a:t>
            </a:r>
          </a:p>
          <a:p>
            <a:r>
              <a:rPr lang="en-US" sz="1400" dirty="0"/>
              <a:t>reduce production downtime </a:t>
            </a:r>
          </a:p>
          <a:p>
            <a:r>
              <a:rPr lang="en-US" sz="1400" dirty="0"/>
              <a:t>prioritize maintenance teams </a:t>
            </a:r>
          </a:p>
          <a:p>
            <a:r>
              <a:rPr lang="en-US" sz="1400" dirty="0"/>
              <a:t>improve operational efficiency</a:t>
            </a:r>
          </a:p>
          <a:p>
            <a:pPr>
              <a:buNone/>
            </a:pP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897354-327B-3352-44EB-BE71D0445AF3}"/>
              </a:ext>
            </a:extLst>
          </p:cNvPr>
          <p:cNvSpPr/>
          <p:nvPr/>
        </p:nvSpPr>
        <p:spPr>
          <a:xfrm>
            <a:off x="0" y="244549"/>
            <a:ext cx="212651" cy="785690"/>
          </a:xfrm>
          <a:prstGeom prst="rect">
            <a:avLst/>
          </a:prstGeom>
          <a:solidFill>
            <a:srgbClr val="C80000"/>
          </a:solidFill>
          <a:ln>
            <a:solidFill>
              <a:srgbClr val="C8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srgbClr val="C8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13E946B-1FB2-8CAB-70C0-2A5EA2FE573B}"/>
              </a:ext>
            </a:extLst>
          </p:cNvPr>
          <p:cNvCxnSpPr>
            <a:cxnSpLocks/>
          </p:cNvCxnSpPr>
          <p:nvPr/>
        </p:nvCxnSpPr>
        <p:spPr>
          <a:xfrm>
            <a:off x="345839" y="1030239"/>
            <a:ext cx="11589765" cy="0"/>
          </a:xfrm>
          <a:prstGeom prst="line">
            <a:avLst/>
          </a:prstGeom>
          <a:ln w="381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0ACE9FE-E32D-0257-2BFC-0EE3D641F290}"/>
              </a:ext>
            </a:extLst>
          </p:cNvPr>
          <p:cNvSpPr txBox="1"/>
          <p:nvPr/>
        </p:nvSpPr>
        <p:spPr>
          <a:xfrm>
            <a:off x="5439697" y="1519903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b="1" dirty="0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54EA4D8-B0C1-089A-45C2-B6C8651D53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248" y="991014"/>
            <a:ext cx="5789570" cy="2200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Business Problem</a:t>
            </a:r>
            <a:b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objective is to </a:t>
            </a:r>
            <a:r>
              <a:rPr lang="en-US" altLang="en-US" sz="1400" dirty="0">
                <a:latin typeface="Arial" panose="020B0604020202020204" pitchFamily="34" charset="0"/>
              </a:rPr>
              <a:t>p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redict whether vehicle machine downtime/failures require maintenance using historical downtime logs.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Binary classification problem: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MaintenanceRequired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(0/1)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Target Variable: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MaintenanceRequired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EE43CE3C-CDF7-F2F3-ED79-E1C064A130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5158702"/>
              </p:ext>
            </p:extLst>
          </p:nvPr>
        </p:nvGraphicFramePr>
        <p:xfrm>
          <a:off x="5854696" y="3125402"/>
          <a:ext cx="5789570" cy="1170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785">
                  <a:extLst>
                    <a:ext uri="{9D8B030D-6E8A-4147-A177-3AD203B41FA5}">
                      <a16:colId xmlns:a16="http://schemas.microsoft.com/office/drawing/2014/main" val="3973972653"/>
                    </a:ext>
                  </a:extLst>
                </a:gridCol>
                <a:gridCol w="2894785">
                  <a:extLst>
                    <a:ext uri="{9D8B030D-6E8A-4147-A177-3AD203B41FA5}">
                      <a16:colId xmlns:a16="http://schemas.microsoft.com/office/drawing/2014/main" val="3114291906"/>
                    </a:ext>
                  </a:extLst>
                </a:gridCol>
              </a:tblGrid>
              <a:tr h="368021">
                <a:tc>
                  <a:txBody>
                    <a:bodyPr/>
                    <a:lstStyle/>
                    <a:p>
                      <a:r>
                        <a:rPr lang="en-ZA" dirty="0" err="1"/>
                        <a:t>Mantainance</a:t>
                      </a:r>
                      <a:r>
                        <a:rPr lang="en-ZA" dirty="0"/>
                        <a:t> Required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Target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8342786"/>
                  </a:ext>
                </a:extLst>
              </a:tr>
              <a:tr h="401008">
                <a:tc>
                  <a:txBody>
                    <a:bodyPr/>
                    <a:lstStyle/>
                    <a:p>
                      <a:r>
                        <a:rPr lang="en-ZA" dirty="0"/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472283"/>
                  </a:ext>
                </a:extLst>
              </a:tr>
              <a:tr h="401008">
                <a:tc>
                  <a:txBody>
                    <a:bodyPr/>
                    <a:lstStyle/>
                    <a:p>
                      <a:r>
                        <a:rPr lang="en-ZA" dirty="0"/>
                        <a:t>No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206858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C7B908E6-C245-1A57-F4B5-FD35B26D69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0106" y="2665535"/>
            <a:ext cx="2089769" cy="2089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chine Learning in Automotive: Pros, Cons, and Applications">
            <a:extLst>
              <a:ext uri="{FF2B5EF4-FFF2-40B4-BE49-F238E27FC236}">
                <a16:creationId xmlns:a16="http://schemas.microsoft.com/office/drawing/2014/main" id="{195F6325-5A86-3CE3-C515-63BE589001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854696" y="4365101"/>
            <a:ext cx="5789570" cy="2322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5432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46301-C61C-4D5E-1328-BE66C0DCE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A55EE1D-715E-A62F-6B44-35B8F74D19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951" y="170579"/>
            <a:ext cx="2048257" cy="74761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C6ADD-4830-CC5C-2DE3-7DAC3E92967A}"/>
              </a:ext>
            </a:extLst>
          </p:cNvPr>
          <p:cNvSpPr txBox="1">
            <a:spLocks/>
          </p:cNvSpPr>
          <p:nvPr/>
        </p:nvSpPr>
        <p:spPr>
          <a:xfrm>
            <a:off x="403504" y="415048"/>
            <a:ext cx="9271437" cy="420682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b="1" dirty="0">
                <a:solidFill>
                  <a:srgbClr val="C00000"/>
                </a:solidFill>
              </a:rPr>
              <a:t>Data Understanding, Preparation &amp; Feature Engineering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B016E6-A60F-8760-686D-F83C880A4578}"/>
              </a:ext>
            </a:extLst>
          </p:cNvPr>
          <p:cNvSpPr txBox="1">
            <a:spLocks/>
          </p:cNvSpPr>
          <p:nvPr/>
        </p:nvSpPr>
        <p:spPr>
          <a:xfrm>
            <a:off x="228142" y="1142286"/>
            <a:ext cx="11707462" cy="56220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900" dirty="0"/>
              <a:t>Duplicate removal: unique(</a:t>
            </a:r>
            <a:r>
              <a:rPr lang="en-US" sz="2900" dirty="0" err="1"/>
              <a:t>df</a:t>
            </a:r>
            <a:r>
              <a:rPr lang="en-US" sz="2900" dirty="0"/>
              <a:t>) used to eliminate repeated downtime records.</a:t>
            </a:r>
          </a:p>
          <a:p>
            <a:r>
              <a:rPr lang="en-US" sz="2900" dirty="0"/>
              <a:t>Missing numeric values: imputed using median (robust to outliers).</a:t>
            </a:r>
          </a:p>
          <a:p>
            <a:r>
              <a:rPr lang="en-US" sz="2900" dirty="0"/>
              <a:t>Missing categorical values: replaced with 'Unknown' category.</a:t>
            </a:r>
          </a:p>
          <a:p>
            <a:r>
              <a:rPr lang="en-US" sz="2900" dirty="0"/>
              <a:t>High-cardinality identifiers removed (e.g., </a:t>
            </a:r>
            <a:r>
              <a:rPr lang="en-US" sz="2900" dirty="0" err="1"/>
              <a:t>DowntimeId</a:t>
            </a:r>
            <a:r>
              <a:rPr lang="en-US" sz="2900" dirty="0"/>
              <a:t>) to reduce noise.</a:t>
            </a:r>
          </a:p>
          <a:p>
            <a:pPr marL="0" indent="0">
              <a:buNone/>
            </a:pPr>
            <a:r>
              <a:rPr lang="en-US" sz="2900" b="1" dirty="0">
                <a:solidFill>
                  <a:srgbClr val="C00000"/>
                </a:solidFill>
                <a:latin typeface="Aptos (Body)"/>
              </a:rPr>
              <a:t>Feature Engineering</a:t>
            </a:r>
          </a:p>
          <a:p>
            <a:r>
              <a:rPr lang="en-US" sz="2900" dirty="0"/>
              <a:t>Target creation: based on median downtime threshold + failure keywords.</a:t>
            </a:r>
          </a:p>
          <a:p>
            <a:r>
              <a:rPr lang="en-US" sz="2900" dirty="0"/>
              <a:t>New features: Hour extracted from timestamp, </a:t>
            </a:r>
            <a:r>
              <a:rPr lang="en-US" sz="2900" dirty="0" err="1"/>
              <a:t>DayOfWeek</a:t>
            </a:r>
            <a:r>
              <a:rPr lang="en-US" sz="2900" dirty="0"/>
              <a:t> derived from date.</a:t>
            </a:r>
          </a:p>
          <a:p>
            <a:r>
              <a:rPr lang="en-US" sz="2900" dirty="0" err="1"/>
              <a:t>EmergencyFlag</a:t>
            </a:r>
            <a:r>
              <a:rPr lang="en-US" sz="2900" dirty="0"/>
              <a:t> created using keyword detection (emergency, critical, urgent).</a:t>
            </a:r>
          </a:p>
          <a:p>
            <a:endParaRPr lang="en-US" sz="29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D5E89D-A649-FCCE-0EFD-95361296BBCD}"/>
              </a:ext>
            </a:extLst>
          </p:cNvPr>
          <p:cNvSpPr/>
          <p:nvPr/>
        </p:nvSpPr>
        <p:spPr>
          <a:xfrm>
            <a:off x="0" y="244549"/>
            <a:ext cx="212651" cy="785690"/>
          </a:xfrm>
          <a:prstGeom prst="rect">
            <a:avLst/>
          </a:prstGeom>
          <a:solidFill>
            <a:srgbClr val="C80000"/>
          </a:solidFill>
          <a:ln>
            <a:solidFill>
              <a:srgbClr val="C8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srgbClr val="C8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F2F8D98-9CA6-C776-8CF0-AD6F52EBDEA0}"/>
              </a:ext>
            </a:extLst>
          </p:cNvPr>
          <p:cNvCxnSpPr>
            <a:cxnSpLocks/>
          </p:cNvCxnSpPr>
          <p:nvPr/>
        </p:nvCxnSpPr>
        <p:spPr>
          <a:xfrm>
            <a:off x="345839" y="1030239"/>
            <a:ext cx="11589765" cy="0"/>
          </a:xfrm>
          <a:prstGeom prst="line">
            <a:avLst/>
          </a:prstGeom>
          <a:ln w="381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375A8AB-7344-F889-16ED-580954726ECA}"/>
              </a:ext>
            </a:extLst>
          </p:cNvPr>
          <p:cNvSpPr txBox="1"/>
          <p:nvPr/>
        </p:nvSpPr>
        <p:spPr>
          <a:xfrm>
            <a:off x="5439697" y="1519903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319719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84AA-879B-1608-E5B0-DADF5BEA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1AC087-A4BC-5BB7-5663-D862D79BC1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951" y="170579"/>
            <a:ext cx="2048257" cy="74761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70995-D11D-90BC-C0B5-4A9F4737ECAB}"/>
              </a:ext>
            </a:extLst>
          </p:cNvPr>
          <p:cNvSpPr txBox="1">
            <a:spLocks/>
          </p:cNvSpPr>
          <p:nvPr/>
        </p:nvSpPr>
        <p:spPr>
          <a:xfrm>
            <a:off x="403504" y="415048"/>
            <a:ext cx="9271437" cy="420682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b="1" dirty="0">
                <a:solidFill>
                  <a:srgbClr val="C00000"/>
                </a:solidFill>
              </a:rPr>
              <a:t>Train/Test Split &amp; Model Stability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E7EBEC9-BC9B-FA34-18A3-BAD0D0C5542C}"/>
              </a:ext>
            </a:extLst>
          </p:cNvPr>
          <p:cNvSpPr txBox="1">
            <a:spLocks/>
          </p:cNvSpPr>
          <p:nvPr/>
        </p:nvSpPr>
        <p:spPr>
          <a:xfrm>
            <a:off x="228142" y="1142286"/>
            <a:ext cx="11707462" cy="56220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Used 70:30 split ensuring class representation.</a:t>
            </a:r>
          </a:p>
          <a:p>
            <a:r>
              <a:rPr lang="en-US" sz="3200" dirty="0"/>
              <a:t>Stratified split via </a:t>
            </a:r>
            <a:r>
              <a:rPr lang="en-US" sz="3200" dirty="0" err="1"/>
              <a:t>createDataPartition</a:t>
            </a:r>
            <a:r>
              <a:rPr lang="en-US" sz="3200" dirty="0"/>
              <a:t> to avoid missing class issues.</a:t>
            </a:r>
          </a:p>
          <a:p>
            <a:r>
              <a:rPr lang="en-US" sz="3200" dirty="0"/>
              <a:t>Models: Logistic Regression, Decision Tree (</a:t>
            </a:r>
            <a:r>
              <a:rPr lang="en-US" sz="3200" dirty="0" err="1"/>
              <a:t>rpart</a:t>
            </a:r>
            <a:r>
              <a:rPr lang="en-US" sz="3200" dirty="0"/>
              <a:t>), Naive Bayes (H2O), Random Forest/GBM.</a:t>
            </a:r>
          </a:p>
          <a:p>
            <a:r>
              <a:rPr lang="en-US" sz="3200" dirty="0"/>
              <a:t>Evaluation metric: AUC due to class imbalance.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878C51-FD5E-8CE0-5298-5228D34465DB}"/>
              </a:ext>
            </a:extLst>
          </p:cNvPr>
          <p:cNvSpPr/>
          <p:nvPr/>
        </p:nvSpPr>
        <p:spPr>
          <a:xfrm>
            <a:off x="0" y="244549"/>
            <a:ext cx="212651" cy="785690"/>
          </a:xfrm>
          <a:prstGeom prst="rect">
            <a:avLst/>
          </a:prstGeom>
          <a:solidFill>
            <a:srgbClr val="C80000"/>
          </a:solidFill>
          <a:ln>
            <a:solidFill>
              <a:srgbClr val="C8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srgbClr val="C8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A5BBC0-16CE-8326-181A-F4F58F9585CF}"/>
              </a:ext>
            </a:extLst>
          </p:cNvPr>
          <p:cNvCxnSpPr>
            <a:cxnSpLocks/>
          </p:cNvCxnSpPr>
          <p:nvPr/>
        </p:nvCxnSpPr>
        <p:spPr>
          <a:xfrm>
            <a:off x="345839" y="1030239"/>
            <a:ext cx="11589765" cy="0"/>
          </a:xfrm>
          <a:prstGeom prst="line">
            <a:avLst/>
          </a:prstGeom>
          <a:ln w="381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396D213-E2C4-B2ED-9A6C-1C25A3CE606A}"/>
              </a:ext>
            </a:extLst>
          </p:cNvPr>
          <p:cNvSpPr txBox="1"/>
          <p:nvPr/>
        </p:nvSpPr>
        <p:spPr>
          <a:xfrm>
            <a:off x="5439697" y="1519903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08035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</Words>
  <Application>Microsoft Office PowerPoint</Application>
  <PresentationFormat>Widescreen</PresentationFormat>
  <Paragraphs>49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Aptos</vt:lpstr>
      <vt:lpstr>Aptos (Body)</vt:lpstr>
      <vt:lpstr>Aptos Display</vt:lpstr>
      <vt:lpstr>Arial</vt:lpstr>
      <vt:lpstr>Arial Unicode MS</vt:lpstr>
      <vt:lpstr>Calibri</vt:lpstr>
      <vt:lpstr>Calibri (Body)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University of KwaZulu-Natal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Danielle Jade Roberts</dc:creator>
  <cp:lastModifiedBy>CSPX_a_MAMBAZA@corpdir.onmicrosoft.com</cp:lastModifiedBy>
  <cp:revision>15</cp:revision>
  <dcterms:created xsi:type="dcterms:W3CDTF">2025-05-12T08:10:08Z</dcterms:created>
  <dcterms:modified xsi:type="dcterms:W3CDTF">2026-04-27T14:24:27Z</dcterms:modified>
</cp:coreProperties>
</file>